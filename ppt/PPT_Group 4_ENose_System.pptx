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eague Spartan" charset="1" panose="00000800000000000000"/>
      <p:regular r:id="rId15"/>
    </p:embeddedFont>
    <p:embeddedFont>
      <p:font typeface="Roboto Bold" charset="1" panose="02000000000000000000"/>
      <p:regular r:id="rId16"/>
    </p:embeddedFont>
    <p:embeddedFont>
      <p:font typeface="Poppins Bold" charset="1" panose="00000800000000000000"/>
      <p:regular r:id="rId17"/>
    </p:embeddedFont>
    <p:embeddedFont>
      <p:font typeface="Roboto" charset="1" panose="02000000000000000000"/>
      <p:regular r:id="rId18"/>
    </p:embeddedFont>
    <p:embeddedFont>
      <p:font typeface="Poppins"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842839" y="4502150"/>
            <a:ext cx="12602321" cy="1216025"/>
          </a:xfrm>
          <a:prstGeom prst="rect">
            <a:avLst/>
          </a:prstGeom>
        </p:spPr>
        <p:txBody>
          <a:bodyPr anchor="t" rtlCol="false" tIns="0" lIns="0" bIns="0" rIns="0">
            <a:spAutoFit/>
          </a:bodyPr>
          <a:lstStyle/>
          <a:p>
            <a:pPr algn="ctr">
              <a:lnSpc>
                <a:spcPts val="4900"/>
              </a:lnSpc>
            </a:pPr>
            <a:r>
              <a:rPr lang="en-US" b="true" sz="3500">
                <a:solidFill>
                  <a:srgbClr val="004AAD"/>
                </a:solidFill>
                <a:latin typeface="League Spartan"/>
                <a:ea typeface="League Spartan"/>
                <a:cs typeface="League Spartan"/>
                <a:sym typeface="League Spartan"/>
              </a:rPr>
              <a:t>DEVELOPMENT FOR ELECTRONIC NOSE DATA VISUALIZATION</a:t>
            </a:r>
          </a:p>
        </p:txBody>
      </p:sp>
      <p:grpSp>
        <p:nvGrpSpPr>
          <p:cNvPr name="Group 4" id="4"/>
          <p:cNvGrpSpPr/>
          <p:nvPr/>
        </p:nvGrpSpPr>
        <p:grpSpPr>
          <a:xfrm rot="0">
            <a:off x="-1130300" y="405775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628291" y="3544078"/>
            <a:ext cx="9031417" cy="913044"/>
          </a:xfrm>
          <a:prstGeom prst="rect">
            <a:avLst/>
          </a:prstGeom>
        </p:spPr>
        <p:txBody>
          <a:bodyPr anchor="t" rtlCol="false" tIns="0" lIns="0" bIns="0" rIns="0">
            <a:spAutoFit/>
          </a:bodyPr>
          <a:lstStyle/>
          <a:p>
            <a:pPr algn="ctr">
              <a:lnSpc>
                <a:spcPts val="7424"/>
              </a:lnSpc>
            </a:pPr>
            <a:r>
              <a:rPr lang="en-US" b="true" sz="5303">
                <a:solidFill>
                  <a:srgbClr val="303642"/>
                </a:solidFill>
                <a:latin typeface="Roboto Bold"/>
                <a:ea typeface="Roboto Bold"/>
                <a:cs typeface="Roboto Bold"/>
                <a:sym typeface="Roboto Bold"/>
              </a:rPr>
              <a:t>GUI APPLICATION </a:t>
            </a:r>
          </a:p>
        </p:txBody>
      </p:sp>
      <p:sp>
        <p:nvSpPr>
          <p:cNvPr name="TextBox 8" id="8"/>
          <p:cNvSpPr txBox="true"/>
          <p:nvPr/>
        </p:nvSpPr>
        <p:spPr>
          <a:xfrm rot="0">
            <a:off x="4880587" y="5852404"/>
            <a:ext cx="8526827" cy="400818"/>
          </a:xfrm>
          <a:prstGeom prst="rect">
            <a:avLst/>
          </a:prstGeom>
        </p:spPr>
        <p:txBody>
          <a:bodyPr anchor="t" rtlCol="false" tIns="0" lIns="0" bIns="0" rIns="0">
            <a:spAutoFit/>
          </a:bodyPr>
          <a:lstStyle/>
          <a:p>
            <a:pPr algn="ctr">
              <a:lnSpc>
                <a:spcPts val="3107"/>
              </a:lnSpc>
              <a:spcBef>
                <a:spcPct val="0"/>
              </a:spcBef>
            </a:pPr>
            <a:r>
              <a:rPr lang="en-US" b="true" sz="2219">
                <a:solidFill>
                  <a:srgbClr val="303642"/>
                </a:solidFill>
                <a:latin typeface="Poppins Bold"/>
                <a:ea typeface="Poppins Bold"/>
                <a:cs typeface="Poppins Bold"/>
                <a:sym typeface="Poppins Bold"/>
              </a:rPr>
              <a:t>SISTEM PENGOLAHAN SINYAL</a:t>
            </a:r>
          </a:p>
        </p:txBody>
      </p:sp>
      <p:grpSp>
        <p:nvGrpSpPr>
          <p:cNvPr name="Group 9" id="9"/>
          <p:cNvGrpSpPr/>
          <p:nvPr/>
        </p:nvGrpSpPr>
        <p:grpSpPr>
          <a:xfrm rot="0">
            <a:off x="16467343" y="4057750"/>
            <a:ext cx="3086100" cy="2171499"/>
            <a:chOff x="0" y="0"/>
            <a:chExt cx="812800" cy="571917"/>
          </a:xfrm>
        </p:grpSpPr>
        <p:sp>
          <p:nvSpPr>
            <p:cNvPr name="Freeform 10" id="10"/>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1" id="11"/>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293004" y="2228242"/>
            <a:ext cx="7701993" cy="863600"/>
          </a:xfrm>
          <a:prstGeom prst="rect">
            <a:avLst/>
          </a:prstGeom>
        </p:spPr>
        <p:txBody>
          <a:bodyPr anchor="t" rtlCol="false" tIns="0" lIns="0" bIns="0" rIns="0">
            <a:spAutoFit/>
          </a:bodyPr>
          <a:lstStyle/>
          <a:p>
            <a:pPr algn="ctr">
              <a:lnSpc>
                <a:spcPts val="7000"/>
              </a:lnSpc>
            </a:pPr>
            <a:r>
              <a:rPr lang="en-US" sz="5000">
                <a:solidFill>
                  <a:srgbClr val="004AAD"/>
                </a:solidFill>
                <a:latin typeface="League Spartan"/>
                <a:ea typeface="League Spartan"/>
                <a:cs typeface="League Spartan"/>
                <a:sym typeface="League Spartan"/>
              </a:rPr>
              <a:t>OUR TEAM</a:t>
            </a:r>
          </a:p>
        </p:txBody>
      </p:sp>
      <p:sp>
        <p:nvSpPr>
          <p:cNvPr name="TextBox 4" id="4"/>
          <p:cNvSpPr txBox="true"/>
          <p:nvPr/>
        </p:nvSpPr>
        <p:spPr>
          <a:xfrm rot="0">
            <a:off x="6208107" y="1209675"/>
            <a:ext cx="5871786" cy="624298"/>
          </a:xfrm>
          <a:prstGeom prst="rect">
            <a:avLst/>
          </a:prstGeom>
        </p:spPr>
        <p:txBody>
          <a:bodyPr anchor="t" rtlCol="false" tIns="0" lIns="0" bIns="0" rIns="0">
            <a:spAutoFit/>
          </a:bodyPr>
          <a:lstStyle/>
          <a:p>
            <a:pPr algn="ctr">
              <a:lnSpc>
                <a:spcPts val="5094"/>
              </a:lnSpc>
            </a:pPr>
            <a:r>
              <a:rPr lang="en-US" sz="3639">
                <a:solidFill>
                  <a:srgbClr val="303642"/>
                </a:solidFill>
                <a:latin typeface="Roboto"/>
                <a:ea typeface="Roboto"/>
                <a:cs typeface="Roboto"/>
                <a:sym typeface="Roboto"/>
              </a:rPr>
              <a:t>WE PROVIDE TO</a:t>
            </a:r>
          </a:p>
        </p:txBody>
      </p:sp>
      <p:sp>
        <p:nvSpPr>
          <p:cNvPr name="TextBox 5" id="5"/>
          <p:cNvSpPr txBox="true"/>
          <p:nvPr/>
        </p:nvSpPr>
        <p:spPr>
          <a:xfrm rot="0">
            <a:off x="3289929" y="3894113"/>
            <a:ext cx="5194387" cy="1076325"/>
          </a:xfrm>
          <a:prstGeom prst="rect">
            <a:avLst/>
          </a:prstGeom>
        </p:spPr>
        <p:txBody>
          <a:bodyPr anchor="t" rtlCol="false" tIns="0" lIns="0" bIns="0" rIns="0">
            <a:spAutoFit/>
          </a:bodyPr>
          <a:lstStyle/>
          <a:p>
            <a:pPr algn="ctr">
              <a:lnSpc>
                <a:spcPts val="4200"/>
              </a:lnSpc>
            </a:pPr>
            <a:r>
              <a:rPr lang="en-US" sz="3000" b="true">
                <a:solidFill>
                  <a:srgbClr val="303642"/>
                </a:solidFill>
                <a:latin typeface="Poppins Bold"/>
                <a:ea typeface="Poppins Bold"/>
                <a:cs typeface="Poppins Bold"/>
                <a:sym typeface="Poppins Bold"/>
              </a:rPr>
              <a:t>Evan Javier Firdausi Malik</a:t>
            </a:r>
          </a:p>
          <a:p>
            <a:pPr algn="ctr">
              <a:lnSpc>
                <a:spcPts val="4200"/>
              </a:lnSpc>
              <a:spcBef>
                <a:spcPct val="0"/>
              </a:spcBef>
            </a:pPr>
            <a:r>
              <a:rPr lang="en-US" b="true" sz="3000">
                <a:solidFill>
                  <a:srgbClr val="303642"/>
                </a:solidFill>
                <a:latin typeface="Poppins Bold"/>
                <a:ea typeface="Poppins Bold"/>
                <a:cs typeface="Poppins Bold"/>
                <a:sym typeface="Poppins Bold"/>
              </a:rPr>
              <a:t>2042241010</a:t>
            </a:r>
          </a:p>
        </p:txBody>
      </p:sp>
      <p:grpSp>
        <p:nvGrpSpPr>
          <p:cNvPr name="Group 6" id="6"/>
          <p:cNvGrpSpPr/>
          <p:nvPr/>
        </p:nvGrpSpPr>
        <p:grpSpPr>
          <a:xfrm rot="0">
            <a:off x="-658342" y="-172627"/>
            <a:ext cx="19604683" cy="2006600"/>
            <a:chOff x="0" y="0"/>
            <a:chExt cx="5163373" cy="528487"/>
          </a:xfrm>
        </p:grpSpPr>
        <p:sp>
          <p:nvSpPr>
            <p:cNvPr name="Freeform 7" id="7"/>
            <p:cNvSpPr/>
            <p:nvPr/>
          </p:nvSpPr>
          <p:spPr>
            <a:xfrm flipH="false" flipV="false" rot="0">
              <a:off x="0" y="0"/>
              <a:ext cx="5163373" cy="528487"/>
            </a:xfrm>
            <a:custGeom>
              <a:avLst/>
              <a:gdLst/>
              <a:ahLst/>
              <a:cxnLst/>
              <a:rect r="r" b="b" t="t" l="l"/>
              <a:pathLst>
                <a:path h="528487" w="5163373">
                  <a:moveTo>
                    <a:pt x="20140" y="0"/>
                  </a:moveTo>
                  <a:lnTo>
                    <a:pt x="5143233" y="0"/>
                  </a:lnTo>
                  <a:cubicBezTo>
                    <a:pt x="5148575" y="0"/>
                    <a:pt x="5153697" y="2122"/>
                    <a:pt x="5157474" y="5899"/>
                  </a:cubicBezTo>
                  <a:cubicBezTo>
                    <a:pt x="5161251" y="9676"/>
                    <a:pt x="5163373" y="14799"/>
                    <a:pt x="5163373" y="20140"/>
                  </a:cubicBezTo>
                  <a:lnTo>
                    <a:pt x="5163373" y="508347"/>
                  </a:lnTo>
                  <a:cubicBezTo>
                    <a:pt x="5163373" y="519470"/>
                    <a:pt x="5154356" y="528487"/>
                    <a:pt x="5143233" y="528487"/>
                  </a:cubicBezTo>
                  <a:lnTo>
                    <a:pt x="20140" y="528487"/>
                  </a:lnTo>
                  <a:cubicBezTo>
                    <a:pt x="9017" y="528487"/>
                    <a:pt x="0" y="519470"/>
                    <a:pt x="0" y="508347"/>
                  </a:cubicBezTo>
                  <a:lnTo>
                    <a:pt x="0" y="20140"/>
                  </a:lnTo>
                  <a:cubicBezTo>
                    <a:pt x="0" y="9017"/>
                    <a:pt x="9017" y="0"/>
                    <a:pt x="20140" y="0"/>
                  </a:cubicBezTo>
                  <a:close/>
                </a:path>
              </a:pathLst>
            </a:custGeom>
            <a:solidFill>
              <a:srgbClr val="004AAD"/>
            </a:solidFill>
          </p:spPr>
        </p:sp>
        <p:sp>
          <p:nvSpPr>
            <p:cNvPr name="TextBox 8" id="8"/>
            <p:cNvSpPr txBox="true"/>
            <p:nvPr/>
          </p:nvSpPr>
          <p:spPr>
            <a:xfrm>
              <a:off x="0" y="-47625"/>
              <a:ext cx="5163373" cy="57611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58342" y="8594247"/>
            <a:ext cx="19604683" cy="2006600"/>
            <a:chOff x="0" y="0"/>
            <a:chExt cx="5163373" cy="528487"/>
          </a:xfrm>
        </p:grpSpPr>
        <p:sp>
          <p:nvSpPr>
            <p:cNvPr name="Freeform 10" id="10"/>
            <p:cNvSpPr/>
            <p:nvPr/>
          </p:nvSpPr>
          <p:spPr>
            <a:xfrm flipH="false" flipV="false" rot="0">
              <a:off x="0" y="0"/>
              <a:ext cx="5163373" cy="528487"/>
            </a:xfrm>
            <a:custGeom>
              <a:avLst/>
              <a:gdLst/>
              <a:ahLst/>
              <a:cxnLst/>
              <a:rect r="r" b="b" t="t" l="l"/>
              <a:pathLst>
                <a:path h="528487" w="5163373">
                  <a:moveTo>
                    <a:pt x="20140" y="0"/>
                  </a:moveTo>
                  <a:lnTo>
                    <a:pt x="5143233" y="0"/>
                  </a:lnTo>
                  <a:cubicBezTo>
                    <a:pt x="5148575" y="0"/>
                    <a:pt x="5153697" y="2122"/>
                    <a:pt x="5157474" y="5899"/>
                  </a:cubicBezTo>
                  <a:cubicBezTo>
                    <a:pt x="5161251" y="9676"/>
                    <a:pt x="5163373" y="14799"/>
                    <a:pt x="5163373" y="20140"/>
                  </a:cubicBezTo>
                  <a:lnTo>
                    <a:pt x="5163373" y="508347"/>
                  </a:lnTo>
                  <a:cubicBezTo>
                    <a:pt x="5163373" y="519470"/>
                    <a:pt x="5154356" y="528487"/>
                    <a:pt x="5143233" y="528487"/>
                  </a:cubicBezTo>
                  <a:lnTo>
                    <a:pt x="20140" y="528487"/>
                  </a:lnTo>
                  <a:cubicBezTo>
                    <a:pt x="9017" y="528487"/>
                    <a:pt x="0" y="519470"/>
                    <a:pt x="0" y="508347"/>
                  </a:cubicBezTo>
                  <a:lnTo>
                    <a:pt x="0" y="20140"/>
                  </a:lnTo>
                  <a:cubicBezTo>
                    <a:pt x="0" y="9017"/>
                    <a:pt x="9017" y="0"/>
                    <a:pt x="20140" y="0"/>
                  </a:cubicBezTo>
                  <a:close/>
                </a:path>
              </a:pathLst>
            </a:custGeom>
            <a:solidFill>
              <a:srgbClr val="004AAD"/>
            </a:solidFill>
          </p:spPr>
        </p:sp>
        <p:sp>
          <p:nvSpPr>
            <p:cNvPr name="TextBox 11" id="11"/>
            <p:cNvSpPr txBox="true"/>
            <p:nvPr/>
          </p:nvSpPr>
          <p:spPr>
            <a:xfrm>
              <a:off x="0" y="-47625"/>
              <a:ext cx="5163373" cy="576112"/>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9803684" y="3894113"/>
            <a:ext cx="5194387" cy="1076325"/>
          </a:xfrm>
          <a:prstGeom prst="rect">
            <a:avLst/>
          </a:prstGeom>
        </p:spPr>
        <p:txBody>
          <a:bodyPr anchor="t" rtlCol="false" tIns="0" lIns="0" bIns="0" rIns="0">
            <a:spAutoFit/>
          </a:bodyPr>
          <a:lstStyle/>
          <a:p>
            <a:pPr algn="ctr">
              <a:lnSpc>
                <a:spcPts val="4200"/>
              </a:lnSpc>
            </a:pPr>
            <a:r>
              <a:rPr lang="en-US" sz="3000" b="true">
                <a:solidFill>
                  <a:srgbClr val="303642"/>
                </a:solidFill>
                <a:latin typeface="Poppins Bold"/>
                <a:ea typeface="Poppins Bold"/>
                <a:cs typeface="Poppins Bold"/>
                <a:sym typeface="Poppins Bold"/>
              </a:rPr>
              <a:t>Rahma Aulia</a:t>
            </a:r>
          </a:p>
          <a:p>
            <a:pPr algn="ctr">
              <a:lnSpc>
                <a:spcPts val="4200"/>
              </a:lnSpc>
              <a:spcBef>
                <a:spcPct val="0"/>
              </a:spcBef>
            </a:pPr>
            <a:r>
              <a:rPr lang="en-US" b="true" sz="3000">
                <a:solidFill>
                  <a:srgbClr val="303642"/>
                </a:solidFill>
                <a:latin typeface="Poppins Bold"/>
                <a:ea typeface="Poppins Bold"/>
                <a:cs typeface="Poppins Bold"/>
                <a:sym typeface="Poppins Bold"/>
              </a:rPr>
              <a:t>2042241056</a:t>
            </a:r>
          </a:p>
        </p:txBody>
      </p:sp>
      <p:sp>
        <p:nvSpPr>
          <p:cNvPr name="TextBox 13" id="13"/>
          <p:cNvSpPr txBox="true"/>
          <p:nvPr/>
        </p:nvSpPr>
        <p:spPr>
          <a:xfrm rot="0">
            <a:off x="6145640" y="5380013"/>
            <a:ext cx="5996720" cy="1076325"/>
          </a:xfrm>
          <a:prstGeom prst="rect">
            <a:avLst/>
          </a:prstGeom>
        </p:spPr>
        <p:txBody>
          <a:bodyPr anchor="t" rtlCol="false" tIns="0" lIns="0" bIns="0" rIns="0">
            <a:spAutoFit/>
          </a:bodyPr>
          <a:lstStyle/>
          <a:p>
            <a:pPr algn="ctr">
              <a:lnSpc>
                <a:spcPts val="4200"/>
              </a:lnSpc>
            </a:pPr>
            <a:r>
              <a:rPr lang="en-US" sz="3000" b="true">
                <a:solidFill>
                  <a:srgbClr val="303642"/>
                </a:solidFill>
                <a:latin typeface="Poppins Bold"/>
                <a:ea typeface="Poppins Bold"/>
                <a:cs typeface="Poppins Bold"/>
                <a:sym typeface="Poppins Bold"/>
              </a:rPr>
              <a:t>Farel Alberto Firest</a:t>
            </a:r>
          </a:p>
          <a:p>
            <a:pPr algn="ctr">
              <a:lnSpc>
                <a:spcPts val="4200"/>
              </a:lnSpc>
              <a:spcBef>
                <a:spcPct val="0"/>
              </a:spcBef>
            </a:pPr>
            <a:r>
              <a:rPr lang="en-US" b="true" sz="3000">
                <a:solidFill>
                  <a:srgbClr val="303642"/>
                </a:solidFill>
                <a:latin typeface="Poppins Bold"/>
                <a:ea typeface="Poppins Bold"/>
                <a:cs typeface="Poppins Bold"/>
                <a:sym typeface="Poppins Bold"/>
              </a:rPr>
              <a:t>2042241058</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6792707" cy="10287000"/>
            <a:chOff x="0" y="0"/>
            <a:chExt cx="1789026" cy="2709333"/>
          </a:xfrm>
        </p:grpSpPr>
        <p:sp>
          <p:nvSpPr>
            <p:cNvPr name="Freeform 4" id="4"/>
            <p:cNvSpPr/>
            <p:nvPr/>
          </p:nvSpPr>
          <p:spPr>
            <a:xfrm flipH="false" flipV="false" rot="0">
              <a:off x="0" y="0"/>
              <a:ext cx="1789026" cy="2709333"/>
            </a:xfrm>
            <a:custGeom>
              <a:avLst/>
              <a:gdLst/>
              <a:ahLst/>
              <a:cxnLst/>
              <a:rect r="r" b="b" t="t" l="l"/>
              <a:pathLst>
                <a:path h="2709333" w="1789026">
                  <a:moveTo>
                    <a:pt x="0" y="0"/>
                  </a:moveTo>
                  <a:lnTo>
                    <a:pt x="1789026" y="0"/>
                  </a:lnTo>
                  <a:lnTo>
                    <a:pt x="1789026" y="2709333"/>
                  </a:lnTo>
                  <a:lnTo>
                    <a:pt x="0" y="2709333"/>
                  </a:lnTo>
                  <a:close/>
                </a:path>
              </a:pathLst>
            </a:custGeom>
            <a:solidFill>
              <a:srgbClr val="004AAD"/>
            </a:solidFill>
          </p:spPr>
        </p:sp>
        <p:sp>
          <p:nvSpPr>
            <p:cNvPr name="TextBox 5" id="5"/>
            <p:cNvSpPr txBox="true"/>
            <p:nvPr/>
          </p:nvSpPr>
          <p:spPr>
            <a:xfrm>
              <a:off x="0" y="-47625"/>
              <a:ext cx="1789026" cy="275695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355400" y="2164932"/>
            <a:ext cx="7964031" cy="6755397"/>
          </a:xfrm>
          <a:custGeom>
            <a:avLst/>
            <a:gdLst/>
            <a:ahLst/>
            <a:cxnLst/>
            <a:rect r="r" b="b" t="t" l="l"/>
            <a:pathLst>
              <a:path h="6755397" w="7964031">
                <a:moveTo>
                  <a:pt x="0" y="0"/>
                </a:moveTo>
                <a:lnTo>
                  <a:pt x="7964031" y="0"/>
                </a:lnTo>
                <a:lnTo>
                  <a:pt x="7964031" y="6755397"/>
                </a:lnTo>
                <a:lnTo>
                  <a:pt x="0" y="6755397"/>
                </a:lnTo>
                <a:lnTo>
                  <a:pt x="0" y="0"/>
                </a:lnTo>
                <a:close/>
              </a:path>
            </a:pathLst>
          </a:custGeom>
          <a:blipFill>
            <a:blip r:embed="rId3"/>
            <a:stretch>
              <a:fillRect l="0" t="0" r="0" b="0"/>
            </a:stretch>
          </a:blipFill>
        </p:spPr>
      </p:sp>
      <p:sp>
        <p:nvSpPr>
          <p:cNvPr name="TextBox 7" id="7"/>
          <p:cNvSpPr txBox="true"/>
          <p:nvPr/>
        </p:nvSpPr>
        <p:spPr>
          <a:xfrm rot="0">
            <a:off x="709411" y="1662134"/>
            <a:ext cx="4737407" cy="1623480"/>
          </a:xfrm>
          <a:prstGeom prst="rect">
            <a:avLst/>
          </a:prstGeom>
        </p:spPr>
        <p:txBody>
          <a:bodyPr anchor="t" rtlCol="false" tIns="0" lIns="0" bIns="0" rIns="0">
            <a:spAutoFit/>
          </a:bodyPr>
          <a:lstStyle/>
          <a:p>
            <a:pPr algn="l">
              <a:lnSpc>
                <a:spcPts val="6591"/>
              </a:lnSpc>
            </a:pPr>
            <a:r>
              <a:rPr lang="en-US" sz="4708">
                <a:solidFill>
                  <a:srgbClr val="FFFFFF"/>
                </a:solidFill>
                <a:latin typeface="League Spartan"/>
                <a:ea typeface="League Spartan"/>
                <a:cs typeface="League Spartan"/>
                <a:sym typeface="League Spartan"/>
              </a:rPr>
              <a:t>AND OBJECTIVES</a:t>
            </a:r>
          </a:p>
        </p:txBody>
      </p:sp>
      <p:sp>
        <p:nvSpPr>
          <p:cNvPr name="TextBox 8" id="8"/>
          <p:cNvSpPr txBox="true"/>
          <p:nvPr/>
        </p:nvSpPr>
        <p:spPr>
          <a:xfrm rot="0">
            <a:off x="709411" y="942975"/>
            <a:ext cx="4842085" cy="770217"/>
          </a:xfrm>
          <a:prstGeom prst="rect">
            <a:avLst/>
          </a:prstGeom>
        </p:spPr>
        <p:txBody>
          <a:bodyPr anchor="t" rtlCol="false" tIns="0" lIns="0" bIns="0" rIns="0">
            <a:spAutoFit/>
          </a:bodyPr>
          <a:lstStyle/>
          <a:p>
            <a:pPr algn="l">
              <a:lnSpc>
                <a:spcPts val="6372"/>
              </a:lnSpc>
            </a:pPr>
            <a:r>
              <a:rPr lang="en-US" b="true" sz="4551">
                <a:solidFill>
                  <a:srgbClr val="FFFFFF"/>
                </a:solidFill>
                <a:latin typeface="Roboto Bold"/>
                <a:ea typeface="Roboto Bold"/>
                <a:cs typeface="Roboto Bold"/>
                <a:sym typeface="Roboto Bold"/>
              </a:rPr>
              <a:t>BACKGROUND</a:t>
            </a:r>
          </a:p>
        </p:txBody>
      </p:sp>
      <p:sp>
        <p:nvSpPr>
          <p:cNvPr name="TextBox 9" id="9"/>
          <p:cNvSpPr txBox="true"/>
          <p:nvPr/>
        </p:nvSpPr>
        <p:spPr>
          <a:xfrm rot="0">
            <a:off x="709411" y="3513322"/>
            <a:ext cx="5634574" cy="6318225"/>
          </a:xfrm>
          <a:prstGeom prst="rect">
            <a:avLst/>
          </a:prstGeom>
        </p:spPr>
        <p:txBody>
          <a:bodyPr anchor="t" rtlCol="false" tIns="0" lIns="0" bIns="0" rIns="0">
            <a:spAutoFit/>
          </a:bodyPr>
          <a:lstStyle/>
          <a:p>
            <a:pPr algn="just">
              <a:lnSpc>
                <a:spcPts val="2976"/>
              </a:lnSpc>
              <a:spcBef>
                <a:spcPct val="0"/>
              </a:spcBef>
            </a:pPr>
            <a:r>
              <a:rPr lang="en-US" sz="2125">
                <a:solidFill>
                  <a:srgbClr val="FFFFFF"/>
                </a:solidFill>
                <a:latin typeface="Poppins"/>
                <a:ea typeface="Poppins"/>
                <a:cs typeface="Poppins"/>
                <a:sym typeface="Poppins"/>
              </a:rPr>
              <a:t>In the chocolate industry, </a:t>
            </a:r>
            <a:r>
              <a:rPr lang="en-US" b="true" sz="2125">
                <a:solidFill>
                  <a:srgbClr val="FFFFFF"/>
                </a:solidFill>
                <a:latin typeface="Poppins Bold"/>
                <a:ea typeface="Poppins Bold"/>
                <a:cs typeface="Poppins Bold"/>
                <a:sym typeface="Poppins Bold"/>
              </a:rPr>
              <a:t>aroma is a critical indicator of quality, determined by factors such as fermentation and roasting</a:t>
            </a:r>
            <a:r>
              <a:rPr lang="en-US" sz="2125">
                <a:solidFill>
                  <a:srgbClr val="FFFFFF"/>
                </a:solidFill>
                <a:latin typeface="Poppins"/>
                <a:ea typeface="Poppins"/>
                <a:cs typeface="Poppins"/>
                <a:sym typeface="Poppins"/>
              </a:rPr>
              <a:t>. Traditional methods relying on human panels can be inconsistent and slow. Therefore, this project aims to design an </a:t>
            </a:r>
            <a:r>
              <a:rPr lang="en-US" b="true" sz="2125">
                <a:solidFill>
                  <a:srgbClr val="FFFFFF"/>
                </a:solidFill>
                <a:latin typeface="Poppins Bold"/>
                <a:ea typeface="Poppins Bold"/>
                <a:cs typeface="Poppins Bold"/>
                <a:sym typeface="Poppins Bold"/>
              </a:rPr>
              <a:t>electronic nose system capable of acquiring real-time aroma data from chocolate samples</a:t>
            </a:r>
            <a:r>
              <a:rPr lang="en-US" sz="2125">
                <a:solidFill>
                  <a:srgbClr val="FFFFFF"/>
                </a:solidFill>
                <a:latin typeface="Poppins"/>
                <a:ea typeface="Poppins"/>
                <a:cs typeface="Poppins"/>
                <a:sym typeface="Poppins"/>
              </a:rPr>
              <a:t>. The primary objective is to integrate a high-performance Rust-based backend with a user-friendly Qt Python frontend to visualize sensor response patterns. This system is designed to help </a:t>
            </a:r>
            <a:r>
              <a:rPr lang="en-US" b="true" sz="2125">
                <a:solidFill>
                  <a:srgbClr val="FFFFFF"/>
                </a:solidFill>
                <a:latin typeface="Poppins Bold"/>
                <a:ea typeface="Poppins Bold"/>
                <a:cs typeface="Poppins Bold"/>
                <a:sym typeface="Poppins Bold"/>
              </a:rPr>
              <a:t>manufacturers monitor product consistency and control quality through objective data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36394" y="0"/>
            <a:ext cx="6951606" cy="10287000"/>
            <a:chOff x="0" y="0"/>
            <a:chExt cx="1830876" cy="2709333"/>
          </a:xfrm>
        </p:grpSpPr>
        <p:sp>
          <p:nvSpPr>
            <p:cNvPr name="Freeform 4" id="4"/>
            <p:cNvSpPr/>
            <p:nvPr/>
          </p:nvSpPr>
          <p:spPr>
            <a:xfrm flipH="false" flipV="false" rot="0">
              <a:off x="0" y="0"/>
              <a:ext cx="1830876" cy="2709333"/>
            </a:xfrm>
            <a:custGeom>
              <a:avLst/>
              <a:gdLst/>
              <a:ahLst/>
              <a:cxnLst/>
              <a:rect r="r" b="b" t="t" l="l"/>
              <a:pathLst>
                <a:path h="2709333" w="1830876">
                  <a:moveTo>
                    <a:pt x="0" y="0"/>
                  </a:moveTo>
                  <a:lnTo>
                    <a:pt x="1830876" y="0"/>
                  </a:lnTo>
                  <a:lnTo>
                    <a:pt x="1830876" y="2709333"/>
                  </a:lnTo>
                  <a:lnTo>
                    <a:pt x="0" y="2709333"/>
                  </a:lnTo>
                  <a:close/>
                </a:path>
              </a:pathLst>
            </a:custGeom>
            <a:solidFill>
              <a:srgbClr val="004AAD"/>
            </a:solidFill>
          </p:spPr>
        </p:sp>
        <p:sp>
          <p:nvSpPr>
            <p:cNvPr name="TextBox 5" id="5"/>
            <p:cNvSpPr txBox="true"/>
            <p:nvPr/>
          </p:nvSpPr>
          <p:spPr>
            <a:xfrm>
              <a:off x="0" y="-47625"/>
              <a:ext cx="1830876"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70541" y="2006345"/>
            <a:ext cx="1601933" cy="6466659"/>
            <a:chOff x="0" y="0"/>
            <a:chExt cx="421908" cy="1703153"/>
          </a:xfrm>
        </p:grpSpPr>
        <p:sp>
          <p:nvSpPr>
            <p:cNvPr name="Freeform 7" id="7"/>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8" id="8"/>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28700" y="2319822"/>
            <a:ext cx="9907644" cy="5647357"/>
          </a:xfrm>
          <a:custGeom>
            <a:avLst/>
            <a:gdLst/>
            <a:ahLst/>
            <a:cxnLst/>
            <a:rect r="r" b="b" t="t" l="l"/>
            <a:pathLst>
              <a:path h="5647357" w="9907644">
                <a:moveTo>
                  <a:pt x="0" y="0"/>
                </a:moveTo>
                <a:lnTo>
                  <a:pt x="9907644" y="0"/>
                </a:lnTo>
                <a:lnTo>
                  <a:pt x="9907644" y="5647356"/>
                </a:lnTo>
                <a:lnTo>
                  <a:pt x="0" y="5647356"/>
                </a:lnTo>
                <a:lnTo>
                  <a:pt x="0" y="0"/>
                </a:lnTo>
                <a:close/>
              </a:path>
            </a:pathLst>
          </a:custGeom>
          <a:blipFill>
            <a:blip r:embed="rId3"/>
            <a:stretch>
              <a:fillRect l="0" t="0" r="0" b="0"/>
            </a:stretch>
          </a:blipFill>
        </p:spPr>
      </p:sp>
      <p:sp>
        <p:nvSpPr>
          <p:cNvPr name="TextBox 10" id="10"/>
          <p:cNvSpPr txBox="true"/>
          <p:nvPr/>
        </p:nvSpPr>
        <p:spPr>
          <a:xfrm rot="0">
            <a:off x="12212920" y="2625214"/>
            <a:ext cx="5203957" cy="7061835"/>
          </a:xfrm>
          <a:prstGeom prst="rect">
            <a:avLst/>
          </a:prstGeom>
        </p:spPr>
        <p:txBody>
          <a:bodyPr anchor="t" rtlCol="false" tIns="0" lIns="0" bIns="0" rIns="0">
            <a:spAutoFit/>
          </a:bodyPr>
          <a:lstStyle/>
          <a:p>
            <a:pPr algn="just">
              <a:lnSpc>
                <a:spcPts val="2940"/>
              </a:lnSpc>
              <a:spcBef>
                <a:spcPct val="0"/>
              </a:spcBef>
            </a:pPr>
            <a:r>
              <a:rPr lang="en-US" sz="2100">
                <a:solidFill>
                  <a:srgbClr val="FFFFFF"/>
                </a:solidFill>
                <a:latin typeface="Poppins"/>
                <a:ea typeface="Poppins"/>
                <a:cs typeface="Poppins"/>
                <a:sym typeface="Poppins"/>
              </a:rPr>
              <a:t>The electronic nose mimics the human sense of smell using an array of gas sensors, such as the </a:t>
            </a:r>
            <a:r>
              <a:rPr lang="en-US" b="true" sz="2100">
                <a:solidFill>
                  <a:srgbClr val="FFFFFF"/>
                </a:solidFill>
                <a:latin typeface="Poppins Bold"/>
                <a:ea typeface="Poppins Bold"/>
                <a:cs typeface="Poppins Bold"/>
                <a:sym typeface="Poppins Bold"/>
              </a:rPr>
              <a:t>MICS-5524 </a:t>
            </a:r>
            <a:r>
              <a:rPr lang="en-US" sz="2100">
                <a:solidFill>
                  <a:srgbClr val="FFFFFF"/>
                </a:solidFill>
                <a:latin typeface="Poppins"/>
                <a:ea typeface="Poppins"/>
                <a:cs typeface="Poppins"/>
                <a:sym typeface="Poppins"/>
              </a:rPr>
              <a:t>and </a:t>
            </a:r>
            <a:r>
              <a:rPr lang="en-US" b="true" sz="2100">
                <a:solidFill>
                  <a:srgbClr val="FFFFFF"/>
                </a:solidFill>
                <a:latin typeface="Poppins Bold"/>
                <a:ea typeface="Poppins Bold"/>
                <a:cs typeface="Poppins Bold"/>
                <a:sym typeface="Poppins Bold"/>
              </a:rPr>
              <a:t>Multichannel Gas Sensor v2</a:t>
            </a:r>
            <a:r>
              <a:rPr lang="en-US" sz="2100">
                <a:solidFill>
                  <a:srgbClr val="FFFFFF"/>
                </a:solidFill>
                <a:latin typeface="Poppins"/>
                <a:ea typeface="Poppins"/>
                <a:cs typeface="Poppins"/>
                <a:sym typeface="Poppins"/>
              </a:rPr>
              <a:t>, which utilize Metal Oxide Semiconductor (MOS) technology. When exposed to volatile compounds from chocolate, the conductivity of these sensors changes, creating a time-series signal. To process this data efficiently, the project utilizes the Rust programming language for the backend due to its memory safety and high performance in handling serial communication. For the visualization layer, GNUPLOT and Qt Python are employed to render the complex multi-channel sensor data into understandable graphs for analysis.</a:t>
            </a:r>
          </a:p>
        </p:txBody>
      </p:sp>
      <p:sp>
        <p:nvSpPr>
          <p:cNvPr name="TextBox 11" id="11"/>
          <p:cNvSpPr txBox="true"/>
          <p:nvPr/>
        </p:nvSpPr>
        <p:spPr>
          <a:xfrm rot="0">
            <a:off x="11908043" y="914400"/>
            <a:ext cx="5508835" cy="770217"/>
          </a:xfrm>
          <a:prstGeom prst="rect">
            <a:avLst/>
          </a:prstGeom>
        </p:spPr>
        <p:txBody>
          <a:bodyPr anchor="t" rtlCol="false" tIns="0" lIns="0" bIns="0" rIns="0">
            <a:spAutoFit/>
          </a:bodyPr>
          <a:lstStyle/>
          <a:p>
            <a:pPr algn="r">
              <a:lnSpc>
                <a:spcPts val="6372"/>
              </a:lnSpc>
            </a:pPr>
            <a:r>
              <a:rPr lang="en-US" sz="4551">
                <a:solidFill>
                  <a:srgbClr val="FFFFFF"/>
                </a:solidFill>
                <a:latin typeface="Roboto"/>
                <a:ea typeface="Roboto"/>
                <a:cs typeface="Roboto"/>
                <a:sym typeface="Roboto"/>
              </a:rPr>
              <a:t>THEORETICAL </a:t>
            </a:r>
          </a:p>
        </p:txBody>
      </p:sp>
      <p:sp>
        <p:nvSpPr>
          <p:cNvPr name="TextBox 12" id="12"/>
          <p:cNvSpPr txBox="true"/>
          <p:nvPr/>
        </p:nvSpPr>
        <p:spPr>
          <a:xfrm rot="0">
            <a:off x="12508848" y="1744684"/>
            <a:ext cx="4908029" cy="794805"/>
          </a:xfrm>
          <a:prstGeom prst="rect">
            <a:avLst/>
          </a:prstGeom>
        </p:spPr>
        <p:txBody>
          <a:bodyPr anchor="t" rtlCol="false" tIns="0" lIns="0" bIns="0" rIns="0">
            <a:spAutoFit/>
          </a:bodyPr>
          <a:lstStyle/>
          <a:p>
            <a:pPr algn="r">
              <a:lnSpc>
                <a:spcPts val="6591"/>
              </a:lnSpc>
            </a:pPr>
            <a:r>
              <a:rPr lang="en-US" b="true" sz="4708">
                <a:solidFill>
                  <a:srgbClr val="FFFFFF"/>
                </a:solidFill>
                <a:latin typeface="League Spartan"/>
                <a:ea typeface="League Spartan"/>
                <a:cs typeface="League Spartan"/>
                <a:sym typeface="League Spartan"/>
              </a:rPr>
              <a:t>FRAMEWORK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334877" y="564656"/>
            <a:ext cx="6206284" cy="5690094"/>
          </a:xfrm>
          <a:custGeom>
            <a:avLst/>
            <a:gdLst/>
            <a:ahLst/>
            <a:cxnLst/>
            <a:rect r="r" b="b" t="t" l="l"/>
            <a:pathLst>
              <a:path h="5690094" w="6206284">
                <a:moveTo>
                  <a:pt x="0" y="0"/>
                </a:moveTo>
                <a:lnTo>
                  <a:pt x="6206284" y="0"/>
                </a:lnTo>
                <a:lnTo>
                  <a:pt x="6206284" y="5690094"/>
                </a:lnTo>
                <a:lnTo>
                  <a:pt x="0" y="5690094"/>
                </a:lnTo>
                <a:lnTo>
                  <a:pt x="0" y="0"/>
                </a:lnTo>
                <a:close/>
              </a:path>
            </a:pathLst>
          </a:custGeom>
          <a:blipFill>
            <a:blip r:embed="rId3"/>
            <a:stretch>
              <a:fillRect l="0" t="0" r="0" b="0"/>
            </a:stretch>
          </a:blipFill>
        </p:spPr>
      </p:sp>
      <p:sp>
        <p:nvSpPr>
          <p:cNvPr name="TextBox 7" id="7"/>
          <p:cNvSpPr txBox="true"/>
          <p:nvPr/>
        </p:nvSpPr>
        <p:spPr>
          <a:xfrm rot="0">
            <a:off x="1028700" y="1315701"/>
            <a:ext cx="7181392"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 AND DATA FLOW</a:t>
            </a:r>
          </a:p>
        </p:txBody>
      </p:sp>
      <p:sp>
        <p:nvSpPr>
          <p:cNvPr name="TextBox 8" id="8"/>
          <p:cNvSpPr txBox="true"/>
          <p:nvPr/>
        </p:nvSpPr>
        <p:spPr>
          <a:xfrm rot="0">
            <a:off x="1028700" y="522624"/>
            <a:ext cx="8115300"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SYSTEM ARCHITECTURE </a:t>
            </a:r>
          </a:p>
        </p:txBody>
      </p:sp>
      <p:sp>
        <p:nvSpPr>
          <p:cNvPr name="TextBox 9" id="9"/>
          <p:cNvSpPr txBox="true"/>
          <p:nvPr/>
        </p:nvSpPr>
        <p:spPr>
          <a:xfrm rot="0">
            <a:off x="1028700" y="6188075"/>
            <a:ext cx="16230600" cy="30702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Poppins"/>
                <a:ea typeface="Poppins"/>
                <a:cs typeface="Poppins"/>
                <a:sym typeface="Poppins"/>
              </a:rPr>
              <a:t>The system architecture is designed as a streamlined pipeline </a:t>
            </a:r>
            <a:r>
              <a:rPr lang="en-US" b="true" sz="2499">
                <a:solidFill>
                  <a:srgbClr val="000000"/>
                </a:solidFill>
                <a:latin typeface="Poppins Bold"/>
                <a:ea typeface="Poppins Bold"/>
                <a:cs typeface="Poppins Bold"/>
                <a:sym typeface="Poppins Bold"/>
              </a:rPr>
              <a:t>starting with the hardware and ending with advanced data analysis.</a:t>
            </a:r>
            <a:r>
              <a:rPr lang="en-US" sz="2499">
                <a:solidFill>
                  <a:srgbClr val="000000"/>
                </a:solidFill>
                <a:latin typeface="Poppins"/>
                <a:ea typeface="Poppins"/>
                <a:cs typeface="Poppins"/>
                <a:sym typeface="Poppins"/>
              </a:rPr>
              <a:t> T</a:t>
            </a:r>
            <a:r>
              <a:rPr lang="en-US" sz="2499">
                <a:solidFill>
                  <a:srgbClr val="000000"/>
                </a:solidFill>
                <a:latin typeface="Poppins"/>
                <a:ea typeface="Poppins"/>
                <a:cs typeface="Poppins"/>
                <a:sym typeface="Poppins"/>
              </a:rPr>
              <a:t>h</a:t>
            </a:r>
            <a:r>
              <a:rPr lang="en-US" sz="2499">
                <a:solidFill>
                  <a:srgbClr val="000000"/>
                </a:solidFill>
                <a:latin typeface="Poppins"/>
                <a:ea typeface="Poppins"/>
                <a:cs typeface="Poppins"/>
                <a:sym typeface="Poppins"/>
              </a:rPr>
              <a:t>e</a:t>
            </a:r>
            <a:r>
              <a:rPr lang="en-US" sz="2499">
                <a:solidFill>
                  <a:srgbClr val="000000"/>
                </a:solidFill>
                <a:latin typeface="Poppins"/>
                <a:ea typeface="Poppins"/>
                <a:cs typeface="Poppins"/>
                <a:sym typeface="Poppins"/>
              </a:rPr>
              <a:t> a</a:t>
            </a:r>
            <a:r>
              <a:rPr lang="en-US" sz="2499">
                <a:solidFill>
                  <a:srgbClr val="000000"/>
                </a:solidFill>
                <a:latin typeface="Poppins"/>
                <a:ea typeface="Poppins"/>
                <a:cs typeface="Poppins"/>
                <a:sym typeface="Poppins"/>
              </a:rPr>
              <a:t>ro</a:t>
            </a:r>
            <a:r>
              <a:rPr lang="en-US" sz="2499">
                <a:solidFill>
                  <a:srgbClr val="000000"/>
                </a:solidFill>
                <a:latin typeface="Poppins"/>
                <a:ea typeface="Poppins"/>
                <a:cs typeface="Poppins"/>
                <a:sym typeface="Poppins"/>
              </a:rPr>
              <a:t>m</a:t>
            </a:r>
            <a:r>
              <a:rPr lang="en-US" sz="2499">
                <a:solidFill>
                  <a:srgbClr val="000000"/>
                </a:solidFill>
                <a:latin typeface="Poppins"/>
                <a:ea typeface="Poppins"/>
                <a:cs typeface="Poppins"/>
                <a:sym typeface="Poppins"/>
              </a:rPr>
              <a:t>a</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fro</a:t>
            </a:r>
            <a:r>
              <a:rPr lang="en-US" sz="2499">
                <a:solidFill>
                  <a:srgbClr val="000000"/>
                </a:solidFill>
                <a:latin typeface="Poppins"/>
                <a:ea typeface="Poppins"/>
                <a:cs typeface="Poppins"/>
                <a:sym typeface="Poppins"/>
              </a:rPr>
              <a:t>m</a:t>
            </a:r>
            <a:r>
              <a:rPr lang="en-US" sz="2499">
                <a:solidFill>
                  <a:srgbClr val="000000"/>
                </a:solidFill>
                <a:latin typeface="Poppins"/>
                <a:ea typeface="Poppins"/>
                <a:cs typeface="Poppins"/>
                <a:sym typeface="Poppins"/>
              </a:rPr>
              <a:t> th</a:t>
            </a:r>
            <a:r>
              <a:rPr lang="en-US" sz="2499">
                <a:solidFill>
                  <a:srgbClr val="000000"/>
                </a:solidFill>
                <a:latin typeface="Poppins"/>
                <a:ea typeface="Poppins"/>
                <a:cs typeface="Poppins"/>
                <a:sym typeface="Poppins"/>
              </a:rPr>
              <a:t>e</a:t>
            </a:r>
            <a:r>
              <a:rPr lang="en-US" sz="2499">
                <a:solidFill>
                  <a:srgbClr val="000000"/>
                </a:solidFill>
                <a:latin typeface="Poppins"/>
                <a:ea typeface="Poppins"/>
                <a:cs typeface="Poppins"/>
                <a:sym typeface="Poppins"/>
              </a:rPr>
              <a:t> chocol</a:t>
            </a:r>
            <a:r>
              <a:rPr lang="en-US" sz="2499">
                <a:solidFill>
                  <a:srgbClr val="000000"/>
                </a:solidFill>
                <a:latin typeface="Poppins"/>
                <a:ea typeface="Poppins"/>
                <a:cs typeface="Poppins"/>
                <a:sym typeface="Poppins"/>
              </a:rPr>
              <a:t>a</a:t>
            </a:r>
            <a:r>
              <a:rPr lang="en-US" sz="2499">
                <a:solidFill>
                  <a:srgbClr val="000000"/>
                </a:solidFill>
                <a:latin typeface="Poppins"/>
                <a:ea typeface="Poppins"/>
                <a:cs typeface="Poppins"/>
                <a:sym typeface="Poppins"/>
              </a:rPr>
              <a:t>te</a:t>
            </a:r>
            <a:r>
              <a:rPr lang="en-US" sz="2499">
                <a:solidFill>
                  <a:srgbClr val="000000"/>
                </a:solidFill>
                <a:latin typeface="Poppins"/>
                <a:ea typeface="Poppins"/>
                <a:cs typeface="Poppins"/>
                <a:sym typeface="Poppins"/>
              </a:rPr>
              <a:t> sa</a:t>
            </a:r>
            <a:r>
              <a:rPr lang="en-US" sz="2499">
                <a:solidFill>
                  <a:srgbClr val="000000"/>
                </a:solidFill>
                <a:latin typeface="Poppins"/>
                <a:ea typeface="Poppins"/>
                <a:cs typeface="Poppins"/>
                <a:sym typeface="Poppins"/>
              </a:rPr>
              <a:t>mple i</a:t>
            </a:r>
            <a:r>
              <a:rPr lang="en-US" sz="2499">
                <a:solidFill>
                  <a:srgbClr val="000000"/>
                </a:solidFill>
                <a:latin typeface="Poppins"/>
                <a:ea typeface="Poppins"/>
                <a:cs typeface="Poppins"/>
                <a:sym typeface="Poppins"/>
              </a:rPr>
              <a:t>s </a:t>
            </a:r>
            <a:r>
              <a:rPr lang="en-US" b="true" sz="2499">
                <a:solidFill>
                  <a:srgbClr val="000000"/>
                </a:solidFill>
                <a:latin typeface="Poppins Bold"/>
                <a:ea typeface="Poppins Bold"/>
                <a:cs typeface="Poppins Bold"/>
                <a:sym typeface="Poppins Bold"/>
              </a:rPr>
              <a:t>circulated through a sensor array using a pump and fan</a:t>
            </a:r>
            <a:r>
              <a:rPr lang="en-US" sz="2499">
                <a:solidFill>
                  <a:srgbClr val="000000"/>
                </a:solidFill>
                <a:latin typeface="Poppins"/>
                <a:ea typeface="Poppins"/>
                <a:cs typeface="Poppins"/>
                <a:sym typeface="Poppins"/>
              </a:rPr>
              <a:t>, whe</a:t>
            </a:r>
            <a:r>
              <a:rPr lang="en-US" sz="2499">
                <a:solidFill>
                  <a:srgbClr val="000000"/>
                </a:solidFill>
                <a:latin typeface="Poppins"/>
                <a:ea typeface="Poppins"/>
                <a:cs typeface="Poppins"/>
                <a:sym typeface="Poppins"/>
              </a:rPr>
              <a:t>r</a:t>
            </a:r>
            <a:r>
              <a:rPr lang="en-US" sz="2499">
                <a:solidFill>
                  <a:srgbClr val="000000"/>
                </a:solidFill>
                <a:latin typeface="Poppins"/>
                <a:ea typeface="Poppins"/>
                <a:cs typeface="Poppins"/>
                <a:sym typeface="Poppins"/>
              </a:rPr>
              <a:t>e</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the </a:t>
            </a:r>
            <a:r>
              <a:rPr lang="en-US" b="true" sz="2499">
                <a:solidFill>
                  <a:srgbClr val="000000"/>
                </a:solidFill>
                <a:latin typeface="Poppins Bold"/>
                <a:ea typeface="Poppins Bold"/>
                <a:cs typeface="Poppins Bold"/>
                <a:sym typeface="Poppins Bold"/>
              </a:rPr>
              <a:t>Arduino Uno R4 WiFi acquires the analog signals</a:t>
            </a:r>
            <a:r>
              <a:rPr lang="en-US" sz="2499">
                <a:solidFill>
                  <a:srgbClr val="000000"/>
                </a:solidFill>
                <a:latin typeface="Poppins"/>
                <a:ea typeface="Poppins"/>
                <a:cs typeface="Poppins"/>
                <a:sym typeface="Poppins"/>
              </a:rPr>
              <a:t>.</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T</a:t>
            </a:r>
            <a:r>
              <a:rPr lang="en-US" sz="2499">
                <a:solidFill>
                  <a:srgbClr val="000000"/>
                </a:solidFill>
                <a:latin typeface="Poppins"/>
                <a:ea typeface="Poppins"/>
                <a:cs typeface="Poppins"/>
                <a:sym typeface="Poppins"/>
              </a:rPr>
              <a:t>h</a:t>
            </a:r>
            <a:r>
              <a:rPr lang="en-US" sz="2499">
                <a:solidFill>
                  <a:srgbClr val="000000"/>
                </a:solidFill>
                <a:latin typeface="Poppins"/>
                <a:ea typeface="Poppins"/>
                <a:cs typeface="Poppins"/>
                <a:sym typeface="Poppins"/>
              </a:rPr>
              <a:t>is</a:t>
            </a:r>
            <a:r>
              <a:rPr lang="en-US" sz="2499">
                <a:solidFill>
                  <a:srgbClr val="000000"/>
                </a:solidFill>
                <a:latin typeface="Poppins"/>
                <a:ea typeface="Poppins"/>
                <a:cs typeface="Poppins"/>
                <a:sym typeface="Poppins"/>
              </a:rPr>
              <a:t> da</a:t>
            </a:r>
            <a:r>
              <a:rPr lang="en-US" sz="2499">
                <a:solidFill>
                  <a:srgbClr val="000000"/>
                </a:solidFill>
                <a:latin typeface="Poppins"/>
                <a:ea typeface="Poppins"/>
                <a:cs typeface="Poppins"/>
                <a:sym typeface="Poppins"/>
              </a:rPr>
              <a:t>ta is</a:t>
            </a:r>
            <a:r>
              <a:rPr lang="en-US" sz="2499">
                <a:solidFill>
                  <a:srgbClr val="000000"/>
                </a:solidFill>
                <a:latin typeface="Poppins"/>
                <a:ea typeface="Poppins"/>
                <a:cs typeface="Poppins"/>
                <a:sym typeface="Poppins"/>
              </a:rPr>
              <a:t> </a:t>
            </a:r>
            <a:r>
              <a:rPr lang="en-US" b="true" sz="2499">
                <a:solidFill>
                  <a:srgbClr val="000000"/>
                </a:solidFill>
                <a:latin typeface="Poppins Bold"/>
                <a:ea typeface="Poppins Bold"/>
                <a:cs typeface="Poppins Bold"/>
                <a:sym typeface="Poppins Bold"/>
              </a:rPr>
              <a:t>transmitted </a:t>
            </a:r>
            <a:r>
              <a:rPr lang="en-US" sz="2499">
                <a:solidFill>
                  <a:srgbClr val="000000"/>
                </a:solidFill>
                <a:latin typeface="Poppins"/>
                <a:ea typeface="Poppins"/>
                <a:cs typeface="Poppins"/>
                <a:sym typeface="Poppins"/>
              </a:rPr>
              <a:t>to </a:t>
            </a:r>
            <a:r>
              <a:rPr lang="en-US" sz="2499">
                <a:solidFill>
                  <a:srgbClr val="000000"/>
                </a:solidFill>
                <a:latin typeface="Poppins"/>
                <a:ea typeface="Poppins"/>
                <a:cs typeface="Poppins"/>
                <a:sym typeface="Poppins"/>
              </a:rPr>
              <a:t>a</a:t>
            </a:r>
            <a:r>
              <a:rPr lang="en-US" sz="2499">
                <a:solidFill>
                  <a:srgbClr val="000000"/>
                </a:solidFill>
                <a:latin typeface="Poppins"/>
                <a:ea typeface="Poppins"/>
                <a:cs typeface="Poppins"/>
                <a:sym typeface="Poppins"/>
              </a:rPr>
              <a:t> ho</a:t>
            </a:r>
            <a:r>
              <a:rPr lang="en-US" sz="2499">
                <a:solidFill>
                  <a:srgbClr val="000000"/>
                </a:solidFill>
                <a:latin typeface="Poppins"/>
                <a:ea typeface="Poppins"/>
                <a:cs typeface="Poppins"/>
                <a:sym typeface="Poppins"/>
              </a:rPr>
              <a:t>s</a:t>
            </a:r>
            <a:r>
              <a:rPr lang="en-US" sz="2499">
                <a:solidFill>
                  <a:srgbClr val="000000"/>
                </a:solidFill>
                <a:latin typeface="Poppins"/>
                <a:ea typeface="Poppins"/>
                <a:cs typeface="Poppins"/>
                <a:sym typeface="Poppins"/>
              </a:rPr>
              <a:t>t</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comput</a:t>
            </a:r>
            <a:r>
              <a:rPr lang="en-US" sz="2499">
                <a:solidFill>
                  <a:srgbClr val="000000"/>
                </a:solidFill>
                <a:latin typeface="Poppins"/>
                <a:ea typeface="Poppins"/>
                <a:cs typeface="Poppins"/>
                <a:sym typeface="Poppins"/>
              </a:rPr>
              <a:t>e</a:t>
            </a:r>
            <a:r>
              <a:rPr lang="en-US" sz="2499">
                <a:solidFill>
                  <a:srgbClr val="000000"/>
                </a:solidFill>
                <a:latin typeface="Poppins"/>
                <a:ea typeface="Poppins"/>
                <a:cs typeface="Poppins"/>
                <a:sym typeface="Poppins"/>
              </a:rPr>
              <a:t>r</a:t>
            </a:r>
            <a:r>
              <a:rPr lang="en-US" sz="2499">
                <a:solidFill>
                  <a:srgbClr val="000000"/>
                </a:solidFill>
                <a:latin typeface="Poppins"/>
                <a:ea typeface="Poppins"/>
                <a:cs typeface="Poppins"/>
                <a:sym typeface="Poppins"/>
              </a:rPr>
              <a:t> w</a:t>
            </a:r>
            <a:r>
              <a:rPr lang="en-US" sz="2499">
                <a:solidFill>
                  <a:srgbClr val="000000"/>
                </a:solidFill>
                <a:latin typeface="Poppins"/>
                <a:ea typeface="Poppins"/>
                <a:cs typeface="Poppins"/>
                <a:sym typeface="Poppins"/>
              </a:rPr>
              <a:t>h</a:t>
            </a:r>
            <a:r>
              <a:rPr lang="en-US" sz="2499">
                <a:solidFill>
                  <a:srgbClr val="000000"/>
                </a:solidFill>
                <a:latin typeface="Poppins"/>
                <a:ea typeface="Poppins"/>
                <a:cs typeface="Poppins"/>
                <a:sym typeface="Poppins"/>
              </a:rPr>
              <a:t>er</a:t>
            </a:r>
            <a:r>
              <a:rPr lang="en-US" sz="2499">
                <a:solidFill>
                  <a:srgbClr val="000000"/>
                </a:solidFill>
                <a:latin typeface="Poppins"/>
                <a:ea typeface="Poppins"/>
                <a:cs typeface="Poppins"/>
                <a:sym typeface="Poppins"/>
              </a:rPr>
              <a:t>e</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a Ru</a:t>
            </a:r>
            <a:r>
              <a:rPr lang="en-US" sz="2499">
                <a:solidFill>
                  <a:srgbClr val="000000"/>
                </a:solidFill>
                <a:latin typeface="Poppins"/>
                <a:ea typeface="Poppins"/>
                <a:cs typeface="Poppins"/>
                <a:sym typeface="Poppins"/>
              </a:rPr>
              <a:t>s</a:t>
            </a:r>
            <a:r>
              <a:rPr lang="en-US" sz="2499">
                <a:solidFill>
                  <a:srgbClr val="000000"/>
                </a:solidFill>
                <a:latin typeface="Poppins"/>
                <a:ea typeface="Poppins"/>
                <a:cs typeface="Poppins"/>
                <a:sym typeface="Poppins"/>
              </a:rPr>
              <a:t>t-b</a:t>
            </a:r>
            <a:r>
              <a:rPr lang="en-US" sz="2499">
                <a:solidFill>
                  <a:srgbClr val="000000"/>
                </a:solidFill>
                <a:latin typeface="Poppins"/>
                <a:ea typeface="Poppins"/>
                <a:cs typeface="Poppins"/>
                <a:sym typeface="Poppins"/>
              </a:rPr>
              <a:t>a</a:t>
            </a:r>
            <a:r>
              <a:rPr lang="en-US" sz="2499">
                <a:solidFill>
                  <a:srgbClr val="000000"/>
                </a:solidFill>
                <a:latin typeface="Poppins"/>
                <a:ea typeface="Poppins"/>
                <a:cs typeface="Poppins"/>
                <a:sym typeface="Poppins"/>
              </a:rPr>
              <a:t>se</a:t>
            </a:r>
            <a:r>
              <a:rPr lang="en-US" sz="2499">
                <a:solidFill>
                  <a:srgbClr val="000000"/>
                </a:solidFill>
                <a:latin typeface="Poppins"/>
                <a:ea typeface="Poppins"/>
                <a:cs typeface="Poppins"/>
                <a:sym typeface="Poppins"/>
              </a:rPr>
              <a:t>d ba</a:t>
            </a:r>
            <a:r>
              <a:rPr lang="en-US" sz="2499">
                <a:solidFill>
                  <a:srgbClr val="000000"/>
                </a:solidFill>
                <a:latin typeface="Poppins"/>
                <a:ea typeface="Poppins"/>
                <a:cs typeface="Poppins"/>
                <a:sym typeface="Poppins"/>
              </a:rPr>
              <a:t>cke</a:t>
            </a:r>
            <a:r>
              <a:rPr lang="en-US" sz="2499">
                <a:solidFill>
                  <a:srgbClr val="000000"/>
                </a:solidFill>
                <a:latin typeface="Poppins"/>
                <a:ea typeface="Poppins"/>
                <a:cs typeface="Poppins"/>
                <a:sym typeface="Poppins"/>
              </a:rPr>
              <a:t>n</a:t>
            </a:r>
            <a:r>
              <a:rPr lang="en-US" sz="2499">
                <a:solidFill>
                  <a:srgbClr val="000000"/>
                </a:solidFill>
                <a:latin typeface="Poppins"/>
                <a:ea typeface="Poppins"/>
                <a:cs typeface="Poppins"/>
                <a:sym typeface="Poppins"/>
              </a:rPr>
              <a:t>d parses </a:t>
            </a:r>
            <a:r>
              <a:rPr lang="en-US" sz="2499">
                <a:solidFill>
                  <a:srgbClr val="000000"/>
                </a:solidFill>
                <a:latin typeface="Poppins"/>
                <a:ea typeface="Poppins"/>
                <a:cs typeface="Poppins"/>
                <a:sym typeface="Poppins"/>
              </a:rPr>
              <a:t>t</a:t>
            </a:r>
            <a:r>
              <a:rPr lang="en-US" sz="2499">
                <a:solidFill>
                  <a:srgbClr val="000000"/>
                </a:solidFill>
                <a:latin typeface="Poppins"/>
                <a:ea typeface="Poppins"/>
                <a:cs typeface="Poppins"/>
                <a:sym typeface="Poppins"/>
              </a:rPr>
              <a:t>he</a:t>
            </a:r>
            <a:r>
              <a:rPr lang="en-US" sz="2499">
                <a:solidFill>
                  <a:srgbClr val="000000"/>
                </a:solidFill>
                <a:latin typeface="Poppins"/>
                <a:ea typeface="Poppins"/>
                <a:cs typeface="Poppins"/>
                <a:sym typeface="Poppins"/>
              </a:rPr>
              <a:t> i</a:t>
            </a:r>
            <a:r>
              <a:rPr lang="en-US" sz="2499">
                <a:solidFill>
                  <a:srgbClr val="000000"/>
                </a:solidFill>
                <a:latin typeface="Poppins"/>
                <a:ea typeface="Poppins"/>
                <a:cs typeface="Poppins"/>
                <a:sym typeface="Poppins"/>
              </a:rPr>
              <a:t>nfo</a:t>
            </a:r>
            <a:r>
              <a:rPr lang="en-US" sz="2499">
                <a:solidFill>
                  <a:srgbClr val="000000"/>
                </a:solidFill>
                <a:latin typeface="Poppins"/>
                <a:ea typeface="Poppins"/>
                <a:cs typeface="Poppins"/>
                <a:sym typeface="Poppins"/>
              </a:rPr>
              <a:t>r</a:t>
            </a:r>
            <a:r>
              <a:rPr lang="en-US" sz="2499">
                <a:solidFill>
                  <a:srgbClr val="000000"/>
                </a:solidFill>
                <a:latin typeface="Poppins"/>
                <a:ea typeface="Poppins"/>
                <a:cs typeface="Poppins"/>
                <a:sym typeface="Poppins"/>
              </a:rPr>
              <a:t>mat</a:t>
            </a:r>
            <a:r>
              <a:rPr lang="en-US" sz="2499">
                <a:solidFill>
                  <a:srgbClr val="000000"/>
                </a:solidFill>
                <a:latin typeface="Poppins"/>
                <a:ea typeface="Poppins"/>
                <a:cs typeface="Poppins"/>
                <a:sym typeface="Poppins"/>
              </a:rPr>
              <a:t>i</a:t>
            </a:r>
            <a:r>
              <a:rPr lang="en-US" sz="2499">
                <a:solidFill>
                  <a:srgbClr val="000000"/>
                </a:solidFill>
                <a:latin typeface="Poppins"/>
                <a:ea typeface="Poppins"/>
                <a:cs typeface="Poppins"/>
                <a:sym typeface="Poppins"/>
              </a:rPr>
              <a:t>on</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and</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s</a:t>
            </a:r>
            <a:r>
              <a:rPr lang="en-US" sz="2499">
                <a:solidFill>
                  <a:srgbClr val="000000"/>
                </a:solidFill>
                <a:latin typeface="Poppins"/>
                <a:ea typeface="Poppins"/>
                <a:cs typeface="Poppins"/>
                <a:sym typeface="Poppins"/>
              </a:rPr>
              <a:t>t</a:t>
            </a:r>
            <a:r>
              <a:rPr lang="en-US" sz="2499">
                <a:solidFill>
                  <a:srgbClr val="000000"/>
                </a:solidFill>
                <a:latin typeface="Poppins"/>
                <a:ea typeface="Poppins"/>
                <a:cs typeface="Poppins"/>
                <a:sym typeface="Poppins"/>
              </a:rPr>
              <a:t>ores</a:t>
            </a:r>
            <a:r>
              <a:rPr lang="en-US" sz="2499">
                <a:solidFill>
                  <a:srgbClr val="000000"/>
                </a:solidFill>
                <a:latin typeface="Poppins"/>
                <a:ea typeface="Poppins"/>
                <a:cs typeface="Poppins"/>
                <a:sym typeface="Poppins"/>
              </a:rPr>
              <a:t> i</a:t>
            </a:r>
            <a:r>
              <a:rPr lang="en-US" sz="2499">
                <a:solidFill>
                  <a:srgbClr val="000000"/>
                </a:solidFill>
                <a:latin typeface="Poppins"/>
                <a:ea typeface="Poppins"/>
                <a:cs typeface="Poppins"/>
                <a:sym typeface="Poppins"/>
              </a:rPr>
              <a:t>t</a:t>
            </a:r>
            <a:r>
              <a:rPr lang="en-US" sz="2499">
                <a:solidFill>
                  <a:srgbClr val="000000"/>
                </a:solidFill>
                <a:latin typeface="Poppins"/>
                <a:ea typeface="Poppins"/>
                <a:cs typeface="Poppins"/>
                <a:sym typeface="Poppins"/>
              </a:rPr>
              <a:t> in</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a</a:t>
            </a:r>
            <a:r>
              <a:rPr lang="en-US" sz="2499">
                <a:solidFill>
                  <a:srgbClr val="000000"/>
                </a:solidFill>
                <a:latin typeface="Poppins"/>
                <a:ea typeface="Poppins"/>
                <a:cs typeface="Poppins"/>
                <a:sym typeface="Poppins"/>
              </a:rPr>
              <a:t>n</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Inf</a:t>
            </a:r>
            <a:r>
              <a:rPr lang="en-US" sz="2499">
                <a:solidFill>
                  <a:srgbClr val="000000"/>
                </a:solidFill>
                <a:latin typeface="Poppins"/>
                <a:ea typeface="Poppins"/>
                <a:cs typeface="Poppins"/>
                <a:sym typeface="Poppins"/>
              </a:rPr>
              <a:t>lu</a:t>
            </a:r>
            <a:r>
              <a:rPr lang="en-US" sz="2499">
                <a:solidFill>
                  <a:srgbClr val="000000"/>
                </a:solidFill>
                <a:latin typeface="Poppins"/>
                <a:ea typeface="Poppins"/>
                <a:cs typeface="Poppins"/>
                <a:sym typeface="Poppins"/>
              </a:rPr>
              <a:t>xDB</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time-s</a:t>
            </a:r>
            <a:r>
              <a:rPr lang="en-US" sz="2499">
                <a:solidFill>
                  <a:srgbClr val="000000"/>
                </a:solidFill>
                <a:latin typeface="Poppins"/>
                <a:ea typeface="Poppins"/>
                <a:cs typeface="Poppins"/>
                <a:sym typeface="Poppins"/>
              </a:rPr>
              <a:t>er</a:t>
            </a:r>
            <a:r>
              <a:rPr lang="en-US" sz="2499">
                <a:solidFill>
                  <a:srgbClr val="000000"/>
                </a:solidFill>
                <a:latin typeface="Poppins"/>
                <a:ea typeface="Poppins"/>
                <a:cs typeface="Poppins"/>
                <a:sym typeface="Poppins"/>
              </a:rPr>
              <a:t>ies data</a:t>
            </a:r>
            <a:r>
              <a:rPr lang="en-US" sz="2499">
                <a:solidFill>
                  <a:srgbClr val="000000"/>
                </a:solidFill>
                <a:latin typeface="Poppins"/>
                <a:ea typeface="Poppins"/>
                <a:cs typeface="Poppins"/>
                <a:sym typeface="Poppins"/>
              </a:rPr>
              <a:t>ba</a:t>
            </a:r>
            <a:r>
              <a:rPr lang="en-US" sz="2499">
                <a:solidFill>
                  <a:srgbClr val="000000"/>
                </a:solidFill>
                <a:latin typeface="Poppins"/>
                <a:ea typeface="Poppins"/>
                <a:cs typeface="Poppins"/>
                <a:sym typeface="Poppins"/>
              </a:rPr>
              <a:t>se. S</a:t>
            </a:r>
            <a:r>
              <a:rPr lang="en-US" sz="2499">
                <a:solidFill>
                  <a:srgbClr val="000000"/>
                </a:solidFill>
                <a:latin typeface="Poppins"/>
                <a:ea typeface="Poppins"/>
                <a:cs typeface="Poppins"/>
                <a:sym typeface="Poppins"/>
              </a:rPr>
              <a:t>i</a:t>
            </a:r>
            <a:r>
              <a:rPr lang="en-US" sz="2499">
                <a:solidFill>
                  <a:srgbClr val="000000"/>
                </a:solidFill>
                <a:latin typeface="Poppins"/>
                <a:ea typeface="Poppins"/>
                <a:cs typeface="Poppins"/>
                <a:sym typeface="Poppins"/>
              </a:rPr>
              <a:t>mult</a:t>
            </a:r>
            <a:r>
              <a:rPr lang="en-US" sz="2499">
                <a:solidFill>
                  <a:srgbClr val="000000"/>
                </a:solidFill>
                <a:latin typeface="Poppins"/>
                <a:ea typeface="Poppins"/>
                <a:cs typeface="Poppins"/>
                <a:sym typeface="Poppins"/>
              </a:rPr>
              <a:t>an</a:t>
            </a:r>
            <a:r>
              <a:rPr lang="en-US" sz="2499">
                <a:solidFill>
                  <a:srgbClr val="000000"/>
                </a:solidFill>
                <a:latin typeface="Poppins"/>
                <a:ea typeface="Poppins"/>
                <a:cs typeface="Poppins"/>
                <a:sym typeface="Poppins"/>
              </a:rPr>
              <a:t>eousl</a:t>
            </a:r>
            <a:r>
              <a:rPr lang="en-US" sz="2499">
                <a:solidFill>
                  <a:srgbClr val="000000"/>
                </a:solidFill>
                <a:latin typeface="Poppins"/>
                <a:ea typeface="Poppins"/>
                <a:cs typeface="Poppins"/>
                <a:sym typeface="Poppins"/>
              </a:rPr>
              <a:t>y</a:t>
            </a:r>
            <a:r>
              <a:rPr lang="en-US" sz="2499">
                <a:solidFill>
                  <a:srgbClr val="000000"/>
                </a:solidFill>
                <a:latin typeface="Poppins"/>
                <a:ea typeface="Poppins"/>
                <a:cs typeface="Poppins"/>
                <a:sym typeface="Poppins"/>
              </a:rPr>
              <a:t>, </a:t>
            </a:r>
            <a:r>
              <a:rPr lang="en-US" b="true" sz="2499">
                <a:solidFill>
                  <a:srgbClr val="000000"/>
                </a:solidFill>
                <a:latin typeface="Poppins Bold"/>
                <a:ea typeface="Poppins Bold"/>
                <a:cs typeface="Poppins Bold"/>
                <a:sym typeface="Poppins Bold"/>
              </a:rPr>
              <a:t>the data is served via an HTTP API to the Qt Python GUI application, allowing for real-time monitoring, while also being formatted for export to Edge Impulse for machine learning classification.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907018" y="981596"/>
            <a:ext cx="6352282" cy="5201644"/>
          </a:xfrm>
          <a:custGeom>
            <a:avLst/>
            <a:gdLst/>
            <a:ahLst/>
            <a:cxnLst/>
            <a:rect r="r" b="b" t="t" l="l"/>
            <a:pathLst>
              <a:path h="5201644" w="6352282">
                <a:moveTo>
                  <a:pt x="0" y="0"/>
                </a:moveTo>
                <a:lnTo>
                  <a:pt x="6352282" y="0"/>
                </a:lnTo>
                <a:lnTo>
                  <a:pt x="6352282" y="5201644"/>
                </a:lnTo>
                <a:lnTo>
                  <a:pt x="0" y="5201644"/>
                </a:lnTo>
                <a:lnTo>
                  <a:pt x="0" y="0"/>
                </a:lnTo>
                <a:close/>
              </a:path>
            </a:pathLst>
          </a:custGeom>
          <a:blipFill>
            <a:blip r:embed="rId3"/>
            <a:stretch>
              <a:fillRect l="0" t="0" r="0" b="0"/>
            </a:stretch>
          </a:blipFill>
        </p:spPr>
      </p:sp>
      <p:sp>
        <p:nvSpPr>
          <p:cNvPr name="TextBox 7" id="7"/>
          <p:cNvSpPr txBox="true"/>
          <p:nvPr/>
        </p:nvSpPr>
        <p:spPr>
          <a:xfrm rot="0">
            <a:off x="1028700" y="1726528"/>
            <a:ext cx="9242558" cy="1855890"/>
          </a:xfrm>
          <a:prstGeom prst="rect">
            <a:avLst/>
          </a:prstGeom>
        </p:spPr>
        <p:txBody>
          <a:bodyPr anchor="t" rtlCol="false" tIns="0" lIns="0" bIns="0" rIns="0">
            <a:spAutoFit/>
          </a:bodyPr>
          <a:lstStyle/>
          <a:p>
            <a:pPr algn="l">
              <a:lnSpc>
                <a:spcPts val="7431"/>
              </a:lnSpc>
            </a:pPr>
            <a:r>
              <a:rPr lang="en-US" sz="5308">
                <a:solidFill>
                  <a:srgbClr val="004AAD"/>
                </a:solidFill>
                <a:latin typeface="League Spartan"/>
                <a:ea typeface="League Spartan"/>
                <a:cs typeface="League Spartan"/>
                <a:sym typeface="League Spartan"/>
              </a:rPr>
              <a:t>IMPLEMENTATION (FRONTEND &amp; BACKEND)</a:t>
            </a:r>
          </a:p>
        </p:txBody>
      </p:sp>
      <p:sp>
        <p:nvSpPr>
          <p:cNvPr name="TextBox 8" id="8"/>
          <p:cNvSpPr txBox="true"/>
          <p:nvPr/>
        </p:nvSpPr>
        <p:spPr>
          <a:xfrm rot="0">
            <a:off x="1028700" y="914400"/>
            <a:ext cx="4842085"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SOFTWARE </a:t>
            </a:r>
          </a:p>
        </p:txBody>
      </p:sp>
      <p:sp>
        <p:nvSpPr>
          <p:cNvPr name="TextBox 9" id="9"/>
          <p:cNvSpPr txBox="true"/>
          <p:nvPr/>
        </p:nvSpPr>
        <p:spPr>
          <a:xfrm rot="0">
            <a:off x="1028700" y="6318885"/>
            <a:ext cx="16230600" cy="2939415"/>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Poppins"/>
                <a:ea typeface="Poppins"/>
                <a:cs typeface="Poppins"/>
                <a:sym typeface="Poppins"/>
              </a:rPr>
              <a:t>The software implementation is divided into</a:t>
            </a:r>
            <a:r>
              <a:rPr lang="en-US" b="true" sz="2400">
                <a:solidFill>
                  <a:srgbClr val="000000"/>
                </a:solidFill>
                <a:latin typeface="Poppins Bold"/>
                <a:ea typeface="Poppins Bold"/>
                <a:cs typeface="Poppins Bold"/>
                <a:sym typeface="Poppins Bold"/>
              </a:rPr>
              <a:t> two distinct</a:t>
            </a:r>
            <a:r>
              <a:rPr lang="en-US" sz="2400">
                <a:solidFill>
                  <a:srgbClr val="000000"/>
                </a:solidFill>
                <a:latin typeface="Poppins"/>
                <a:ea typeface="Poppins"/>
                <a:cs typeface="Poppins"/>
                <a:sym typeface="Poppins"/>
              </a:rPr>
              <a:t> but integrated layers to maximize efficiency. The </a:t>
            </a:r>
            <a:r>
              <a:rPr lang="en-US" b="true" sz="2400">
                <a:solidFill>
                  <a:srgbClr val="000000"/>
                </a:solidFill>
                <a:latin typeface="Poppins Bold"/>
                <a:ea typeface="Poppins Bold"/>
                <a:cs typeface="Poppins Bold"/>
                <a:sym typeface="Poppins Bold"/>
              </a:rPr>
              <a:t>backend, written in Rust, handles the heavy lifting of continuous serial communication with the Arduino, data parsing, and database management with InfluxDB</a:t>
            </a:r>
            <a:r>
              <a:rPr lang="en-US" sz="2400">
                <a:solidFill>
                  <a:srgbClr val="000000"/>
                </a:solidFill>
                <a:latin typeface="Poppins"/>
                <a:ea typeface="Poppins"/>
                <a:cs typeface="Poppins"/>
                <a:sym typeface="Poppins"/>
              </a:rPr>
              <a:t>. It exposes a lightweight REST endpoint for data retrieval. On the user side, </a:t>
            </a:r>
            <a:r>
              <a:rPr lang="en-US" b="true" sz="2400">
                <a:solidFill>
                  <a:srgbClr val="000000"/>
                </a:solidFill>
                <a:latin typeface="Poppins Bold"/>
                <a:ea typeface="Poppins Bold"/>
                <a:cs typeface="Poppins Bold"/>
                <a:sym typeface="Poppins Bold"/>
              </a:rPr>
              <a:t>the Qt Python GUI provides an interactive interface where users can input sample details, control the sampling process, and view live response curves.</a:t>
            </a:r>
            <a:r>
              <a:rPr lang="en-US" sz="2400">
                <a:solidFill>
                  <a:srgbClr val="000000"/>
                </a:solidFill>
                <a:latin typeface="Poppins"/>
                <a:ea typeface="Poppins"/>
                <a:cs typeface="Poppins"/>
                <a:sym typeface="Poppins"/>
              </a:rPr>
              <a:t> This separation ensures that the data acquisition remains stable and fast, even while the user interacts with the graphical interface.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9643667"/>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914215" y="2356176"/>
            <a:ext cx="8459571" cy="4134615"/>
          </a:xfrm>
          <a:custGeom>
            <a:avLst/>
            <a:gdLst/>
            <a:ahLst/>
            <a:cxnLst/>
            <a:rect r="r" b="b" t="t" l="l"/>
            <a:pathLst>
              <a:path h="4134615" w="8459571">
                <a:moveTo>
                  <a:pt x="0" y="0"/>
                </a:moveTo>
                <a:lnTo>
                  <a:pt x="8459570" y="0"/>
                </a:lnTo>
                <a:lnTo>
                  <a:pt x="8459570" y="4134615"/>
                </a:lnTo>
                <a:lnTo>
                  <a:pt x="0" y="4134615"/>
                </a:lnTo>
                <a:lnTo>
                  <a:pt x="0" y="0"/>
                </a:lnTo>
                <a:close/>
              </a:path>
            </a:pathLst>
          </a:custGeom>
          <a:blipFill>
            <a:blip r:embed="rId3"/>
            <a:stretch>
              <a:fillRect l="0" t="0" r="0" b="0"/>
            </a:stretch>
          </a:blipFill>
        </p:spPr>
      </p:sp>
      <p:sp>
        <p:nvSpPr>
          <p:cNvPr name="TextBox 7" id="7"/>
          <p:cNvSpPr txBox="true"/>
          <p:nvPr/>
        </p:nvSpPr>
        <p:spPr>
          <a:xfrm rot="0">
            <a:off x="1028700" y="6844587"/>
            <a:ext cx="16230600" cy="2799080"/>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Poppins"/>
                <a:ea typeface="Poppins"/>
                <a:cs typeface="Poppins"/>
                <a:sym typeface="Poppins"/>
              </a:rPr>
              <a:t>To ensure reliable sensor readings, the hardware is housed in a </a:t>
            </a:r>
            <a:r>
              <a:rPr lang="en-US" b="true" sz="2300">
                <a:solidFill>
                  <a:srgbClr val="000000"/>
                </a:solidFill>
                <a:latin typeface="Poppins Bold"/>
                <a:ea typeface="Poppins Bold"/>
                <a:cs typeface="Poppins Bold"/>
                <a:sym typeface="Poppins Bold"/>
              </a:rPr>
              <a:t>custom-designed 3D-printed enclosure. This design optimizes the mechanical layout of the sample chamber, gas sensors, pump, and Arduino Uno R4 WiFi to ensure even airflow and minimize leakage.</a:t>
            </a:r>
            <a:r>
              <a:rPr lang="en-US" sz="2300">
                <a:solidFill>
                  <a:srgbClr val="000000"/>
                </a:solidFill>
                <a:latin typeface="Poppins"/>
                <a:ea typeface="Poppins"/>
                <a:cs typeface="Poppins"/>
                <a:sym typeface="Poppins"/>
              </a:rPr>
              <a:t> The compact case includes specific mounting for electronic modules and cable routing to facilitate maintenance. Furthermore, </a:t>
            </a:r>
            <a:r>
              <a:rPr lang="en-US" b="true" sz="2300">
                <a:solidFill>
                  <a:srgbClr val="000000"/>
                </a:solidFill>
                <a:latin typeface="Poppins Bold"/>
                <a:ea typeface="Poppins Bold"/>
                <a:cs typeface="Poppins Bold"/>
                <a:sym typeface="Poppins Bold"/>
              </a:rPr>
              <a:t>the system integrates with Edge Impulse, where the collected datasets (in CSV/JSON format) are uploaded to train machine learning models.</a:t>
            </a:r>
            <a:r>
              <a:rPr lang="en-US" sz="2300">
                <a:solidFill>
                  <a:srgbClr val="000000"/>
                </a:solidFill>
                <a:latin typeface="Poppins"/>
                <a:ea typeface="Poppins"/>
                <a:cs typeface="Poppins"/>
                <a:sym typeface="Poppins"/>
              </a:rPr>
              <a:t> This integration allows the system not just to visualize data, but to eventually</a:t>
            </a:r>
            <a:r>
              <a:rPr lang="en-US" sz="2300">
                <a:solidFill>
                  <a:srgbClr val="000000"/>
                </a:solidFill>
                <a:latin typeface="Poppins"/>
                <a:ea typeface="Poppins"/>
                <a:cs typeface="Poppins"/>
                <a:sym typeface="Poppins"/>
              </a:rPr>
              <a:t> </a:t>
            </a:r>
            <a:r>
              <a:rPr lang="en-US" sz="2300">
                <a:solidFill>
                  <a:srgbClr val="000000"/>
                </a:solidFill>
                <a:latin typeface="Poppins"/>
                <a:ea typeface="Poppins"/>
                <a:cs typeface="Poppins"/>
                <a:sym typeface="Poppins"/>
              </a:rPr>
              <a:t>c</a:t>
            </a:r>
            <a:r>
              <a:rPr lang="en-US" sz="2300">
                <a:solidFill>
                  <a:srgbClr val="000000"/>
                </a:solidFill>
                <a:latin typeface="Poppins"/>
                <a:ea typeface="Poppins"/>
                <a:cs typeface="Poppins"/>
                <a:sym typeface="Poppins"/>
              </a:rPr>
              <a:t>l</a:t>
            </a:r>
            <a:r>
              <a:rPr lang="en-US" sz="2300">
                <a:solidFill>
                  <a:srgbClr val="000000"/>
                </a:solidFill>
                <a:latin typeface="Poppins"/>
                <a:ea typeface="Poppins"/>
                <a:cs typeface="Poppins"/>
                <a:sym typeface="Poppins"/>
              </a:rPr>
              <a:t>assify diff</a:t>
            </a:r>
            <a:r>
              <a:rPr lang="en-US" sz="2300">
                <a:solidFill>
                  <a:srgbClr val="000000"/>
                </a:solidFill>
                <a:latin typeface="Poppins"/>
                <a:ea typeface="Poppins"/>
                <a:cs typeface="Poppins"/>
                <a:sym typeface="Poppins"/>
              </a:rPr>
              <a:t>e</a:t>
            </a:r>
            <a:r>
              <a:rPr lang="en-US" sz="2300">
                <a:solidFill>
                  <a:srgbClr val="000000"/>
                </a:solidFill>
                <a:latin typeface="Poppins"/>
                <a:ea typeface="Poppins"/>
                <a:cs typeface="Poppins"/>
                <a:sym typeface="Poppins"/>
              </a:rPr>
              <a:t>rent chocolate types </a:t>
            </a:r>
            <a:r>
              <a:rPr lang="en-US" sz="2300">
                <a:solidFill>
                  <a:srgbClr val="000000"/>
                </a:solidFill>
                <a:latin typeface="Poppins"/>
                <a:ea typeface="Poppins"/>
                <a:cs typeface="Poppins"/>
                <a:sym typeface="Poppins"/>
              </a:rPr>
              <a:t>b</a:t>
            </a:r>
            <a:r>
              <a:rPr lang="en-US" sz="2300">
                <a:solidFill>
                  <a:srgbClr val="000000"/>
                </a:solidFill>
                <a:latin typeface="Poppins"/>
                <a:ea typeface="Poppins"/>
                <a:cs typeface="Poppins"/>
                <a:sym typeface="Poppins"/>
              </a:rPr>
              <a:t>ased on the</a:t>
            </a:r>
            <a:r>
              <a:rPr lang="en-US" sz="2300">
                <a:solidFill>
                  <a:srgbClr val="000000"/>
                </a:solidFill>
                <a:latin typeface="Poppins"/>
                <a:ea typeface="Poppins"/>
                <a:cs typeface="Poppins"/>
                <a:sym typeface="Poppins"/>
              </a:rPr>
              <a:t>i</a:t>
            </a:r>
            <a:r>
              <a:rPr lang="en-US" sz="2300">
                <a:solidFill>
                  <a:srgbClr val="000000"/>
                </a:solidFill>
                <a:latin typeface="Poppins"/>
                <a:ea typeface="Poppins"/>
                <a:cs typeface="Poppins"/>
                <a:sym typeface="Poppins"/>
              </a:rPr>
              <a:t>r aroma</a:t>
            </a:r>
            <a:r>
              <a:rPr lang="en-US" sz="2300">
                <a:solidFill>
                  <a:srgbClr val="000000"/>
                </a:solidFill>
                <a:latin typeface="Poppins"/>
                <a:ea typeface="Poppins"/>
                <a:cs typeface="Poppins"/>
                <a:sym typeface="Poppins"/>
              </a:rPr>
              <a:t> </a:t>
            </a:r>
            <a:r>
              <a:rPr lang="en-US" sz="2300">
                <a:solidFill>
                  <a:srgbClr val="000000"/>
                </a:solidFill>
                <a:latin typeface="Poppins"/>
                <a:ea typeface="Poppins"/>
                <a:cs typeface="Poppins"/>
                <a:sym typeface="Poppins"/>
              </a:rPr>
              <a:t>fi</a:t>
            </a:r>
            <a:r>
              <a:rPr lang="en-US" sz="2300">
                <a:solidFill>
                  <a:srgbClr val="000000"/>
                </a:solidFill>
                <a:latin typeface="Poppins"/>
                <a:ea typeface="Poppins"/>
                <a:cs typeface="Poppins"/>
                <a:sym typeface="Poppins"/>
              </a:rPr>
              <a:t>ng</a:t>
            </a:r>
            <a:r>
              <a:rPr lang="en-US" sz="2300">
                <a:solidFill>
                  <a:srgbClr val="000000"/>
                </a:solidFill>
                <a:latin typeface="Poppins"/>
                <a:ea typeface="Poppins"/>
                <a:cs typeface="Poppins"/>
                <a:sym typeface="Poppins"/>
              </a:rPr>
              <a:t>erprints.</a:t>
            </a:r>
          </a:p>
        </p:txBody>
      </p:sp>
      <p:sp>
        <p:nvSpPr>
          <p:cNvPr name="TextBox 8" id="8"/>
          <p:cNvSpPr txBox="true"/>
          <p:nvPr/>
        </p:nvSpPr>
        <p:spPr>
          <a:xfrm rot="0">
            <a:off x="1028700" y="1443261"/>
            <a:ext cx="8909610" cy="1855890"/>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INTEGRATION AND 3D DESIGN</a:t>
            </a:r>
          </a:p>
        </p:txBody>
      </p:sp>
      <p:sp>
        <p:nvSpPr>
          <p:cNvPr name="TextBox 9" id="9"/>
          <p:cNvSpPr txBox="true"/>
          <p:nvPr/>
        </p:nvSpPr>
        <p:spPr>
          <a:xfrm rot="0">
            <a:off x="1028700" y="522624"/>
            <a:ext cx="5634574"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HARDWARE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406318" y="6644003"/>
            <a:ext cx="15475364" cy="2840298"/>
            <a:chOff x="0" y="0"/>
            <a:chExt cx="20633819" cy="3787064"/>
          </a:xfrm>
        </p:grpSpPr>
        <p:sp>
          <p:nvSpPr>
            <p:cNvPr name="Freeform 4" id="4"/>
            <p:cNvSpPr/>
            <p:nvPr/>
          </p:nvSpPr>
          <p:spPr>
            <a:xfrm flipH="false" flipV="false" rot="0">
              <a:off x="15430820" y="0"/>
              <a:ext cx="5202999" cy="3787064"/>
            </a:xfrm>
            <a:custGeom>
              <a:avLst/>
              <a:gdLst/>
              <a:ahLst/>
              <a:cxnLst/>
              <a:rect r="r" b="b" t="t" l="l"/>
              <a:pathLst>
                <a:path h="3787064" w="5202999">
                  <a:moveTo>
                    <a:pt x="0" y="0"/>
                  </a:moveTo>
                  <a:lnTo>
                    <a:pt x="5202999" y="0"/>
                  </a:lnTo>
                  <a:lnTo>
                    <a:pt x="5202999" y="3787064"/>
                  </a:lnTo>
                  <a:lnTo>
                    <a:pt x="0" y="3787064"/>
                  </a:lnTo>
                  <a:lnTo>
                    <a:pt x="0" y="0"/>
                  </a:lnTo>
                  <a:close/>
                </a:path>
              </a:pathLst>
            </a:custGeom>
            <a:blipFill>
              <a:blip r:embed="rId3"/>
              <a:stretch>
                <a:fillRect l="0" t="0" r="0" b="0"/>
              </a:stretch>
            </a:blipFill>
          </p:spPr>
        </p:sp>
        <p:sp>
          <p:nvSpPr>
            <p:cNvPr name="Freeform 5" id="5"/>
            <p:cNvSpPr/>
            <p:nvPr/>
          </p:nvSpPr>
          <p:spPr>
            <a:xfrm flipH="false" flipV="false" rot="0">
              <a:off x="10157801" y="190999"/>
              <a:ext cx="4836812" cy="3596065"/>
            </a:xfrm>
            <a:custGeom>
              <a:avLst/>
              <a:gdLst/>
              <a:ahLst/>
              <a:cxnLst/>
              <a:rect r="r" b="b" t="t" l="l"/>
              <a:pathLst>
                <a:path h="3596065" w="4836812">
                  <a:moveTo>
                    <a:pt x="0" y="0"/>
                  </a:moveTo>
                  <a:lnTo>
                    <a:pt x="4836812" y="0"/>
                  </a:lnTo>
                  <a:lnTo>
                    <a:pt x="4836812" y="3596065"/>
                  </a:lnTo>
                  <a:lnTo>
                    <a:pt x="0" y="3596065"/>
                  </a:lnTo>
                  <a:lnTo>
                    <a:pt x="0" y="0"/>
                  </a:lnTo>
                  <a:close/>
                </a:path>
              </a:pathLst>
            </a:custGeom>
            <a:blipFill>
              <a:blip r:embed="rId4"/>
              <a:stretch>
                <a:fillRect l="0" t="0" r="0" b="0"/>
              </a:stretch>
            </a:blipFill>
          </p:spPr>
        </p:sp>
        <p:sp>
          <p:nvSpPr>
            <p:cNvPr name="Freeform 6" id="6"/>
            <p:cNvSpPr/>
            <p:nvPr/>
          </p:nvSpPr>
          <p:spPr>
            <a:xfrm flipH="false" flipV="false" rot="0">
              <a:off x="4839874" y="190999"/>
              <a:ext cx="4719345" cy="3508186"/>
            </a:xfrm>
            <a:custGeom>
              <a:avLst/>
              <a:gdLst/>
              <a:ahLst/>
              <a:cxnLst/>
              <a:rect r="r" b="b" t="t" l="l"/>
              <a:pathLst>
                <a:path h="3508186" w="4719345">
                  <a:moveTo>
                    <a:pt x="0" y="0"/>
                  </a:moveTo>
                  <a:lnTo>
                    <a:pt x="4719345" y="0"/>
                  </a:lnTo>
                  <a:lnTo>
                    <a:pt x="4719345" y="3508186"/>
                  </a:lnTo>
                  <a:lnTo>
                    <a:pt x="0" y="3508186"/>
                  </a:lnTo>
                  <a:lnTo>
                    <a:pt x="0" y="0"/>
                  </a:lnTo>
                  <a:close/>
                </a:path>
              </a:pathLst>
            </a:custGeom>
            <a:blipFill>
              <a:blip r:embed="rId5"/>
              <a:stretch>
                <a:fillRect l="0" t="0" r="0" b="0"/>
              </a:stretch>
            </a:blipFill>
          </p:spPr>
        </p:sp>
        <p:sp>
          <p:nvSpPr>
            <p:cNvPr name="Freeform 7" id="7"/>
            <p:cNvSpPr/>
            <p:nvPr/>
          </p:nvSpPr>
          <p:spPr>
            <a:xfrm flipH="false" flipV="false" rot="0">
              <a:off x="0" y="335145"/>
              <a:ext cx="4241292" cy="3116774"/>
            </a:xfrm>
            <a:custGeom>
              <a:avLst/>
              <a:gdLst/>
              <a:ahLst/>
              <a:cxnLst/>
              <a:rect r="r" b="b" t="t" l="l"/>
              <a:pathLst>
                <a:path h="3116774" w="4241292">
                  <a:moveTo>
                    <a:pt x="0" y="0"/>
                  </a:moveTo>
                  <a:lnTo>
                    <a:pt x="4241292" y="0"/>
                  </a:lnTo>
                  <a:lnTo>
                    <a:pt x="4241292" y="3116774"/>
                  </a:lnTo>
                  <a:lnTo>
                    <a:pt x="0" y="3116774"/>
                  </a:lnTo>
                  <a:lnTo>
                    <a:pt x="0" y="0"/>
                  </a:lnTo>
                  <a:close/>
                </a:path>
              </a:pathLst>
            </a:custGeom>
            <a:blipFill>
              <a:blip r:embed="rId6"/>
              <a:stretch>
                <a:fillRect l="0" t="0" r="0" b="0"/>
              </a:stretch>
            </a:blipFill>
          </p:spPr>
        </p:sp>
      </p:grpSp>
      <p:sp>
        <p:nvSpPr>
          <p:cNvPr name="TextBox 8" id="8"/>
          <p:cNvSpPr txBox="true"/>
          <p:nvPr/>
        </p:nvSpPr>
        <p:spPr>
          <a:xfrm rot="0">
            <a:off x="1028700" y="1726528"/>
            <a:ext cx="7872410"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AND DISCUSSION</a:t>
            </a:r>
          </a:p>
        </p:txBody>
      </p:sp>
      <p:sp>
        <p:nvSpPr>
          <p:cNvPr name="TextBox 9" id="9"/>
          <p:cNvSpPr txBox="true"/>
          <p:nvPr/>
        </p:nvSpPr>
        <p:spPr>
          <a:xfrm rot="0">
            <a:off x="1028700" y="914400"/>
            <a:ext cx="5634574"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RESULTS </a:t>
            </a:r>
          </a:p>
        </p:txBody>
      </p:sp>
      <p:sp>
        <p:nvSpPr>
          <p:cNvPr name="TextBox 10" id="10"/>
          <p:cNvSpPr txBox="true"/>
          <p:nvPr/>
        </p:nvSpPr>
        <p:spPr>
          <a:xfrm rot="0">
            <a:off x="1028700" y="2582293"/>
            <a:ext cx="16230600" cy="3817620"/>
          </a:xfrm>
          <a:prstGeom prst="rect">
            <a:avLst/>
          </a:prstGeom>
        </p:spPr>
        <p:txBody>
          <a:bodyPr anchor="t" rtlCol="false" tIns="0" lIns="0" bIns="0" rIns="0">
            <a:spAutoFit/>
          </a:bodyPr>
          <a:lstStyle/>
          <a:p>
            <a:pPr algn="ctr">
              <a:lnSpc>
                <a:spcPts val="3779"/>
              </a:lnSpc>
              <a:spcBef>
                <a:spcPct val="0"/>
              </a:spcBef>
            </a:pPr>
            <a:r>
              <a:rPr lang="en-US" sz="2700">
                <a:solidFill>
                  <a:srgbClr val="000000"/>
                </a:solidFill>
                <a:latin typeface="Poppins"/>
                <a:ea typeface="Poppins"/>
                <a:cs typeface="Poppins"/>
                <a:sym typeface="Poppins"/>
              </a:rPr>
              <a:t>The system</a:t>
            </a:r>
            <a:r>
              <a:rPr lang="en-US" sz="2700">
                <a:solidFill>
                  <a:srgbClr val="000000"/>
                </a:solidFill>
                <a:latin typeface="Poppins"/>
                <a:ea typeface="Poppins"/>
                <a:cs typeface="Poppins"/>
                <a:sym typeface="Poppins"/>
              </a:rPr>
              <a:t> </a:t>
            </a:r>
            <a:r>
              <a:rPr lang="en-US" sz="2700">
                <a:solidFill>
                  <a:srgbClr val="000000"/>
                </a:solidFill>
                <a:latin typeface="Poppins"/>
                <a:ea typeface="Poppins"/>
                <a:cs typeface="Poppins"/>
                <a:sym typeface="Poppins"/>
              </a:rPr>
              <a:t>was t</a:t>
            </a:r>
            <a:r>
              <a:rPr lang="en-US" sz="2700">
                <a:solidFill>
                  <a:srgbClr val="000000"/>
                </a:solidFill>
                <a:latin typeface="Poppins"/>
                <a:ea typeface="Poppins"/>
                <a:cs typeface="Poppins"/>
                <a:sym typeface="Poppins"/>
              </a:rPr>
              <a:t>e</a:t>
            </a:r>
            <a:r>
              <a:rPr lang="en-US" sz="2700">
                <a:solidFill>
                  <a:srgbClr val="000000"/>
                </a:solidFill>
                <a:latin typeface="Poppins"/>
                <a:ea typeface="Poppins"/>
                <a:cs typeface="Poppins"/>
                <a:sym typeface="Poppins"/>
              </a:rPr>
              <a:t>st</a:t>
            </a:r>
            <a:r>
              <a:rPr lang="en-US" sz="2700">
                <a:solidFill>
                  <a:srgbClr val="000000"/>
                </a:solidFill>
                <a:latin typeface="Poppins"/>
                <a:ea typeface="Poppins"/>
                <a:cs typeface="Poppins"/>
                <a:sym typeface="Poppins"/>
              </a:rPr>
              <a:t>e</a:t>
            </a:r>
            <a:r>
              <a:rPr lang="en-US" sz="2700">
                <a:solidFill>
                  <a:srgbClr val="000000"/>
                </a:solidFill>
                <a:latin typeface="Poppins"/>
                <a:ea typeface="Poppins"/>
                <a:cs typeface="Poppins"/>
                <a:sym typeface="Poppins"/>
              </a:rPr>
              <a:t>d us</a:t>
            </a:r>
            <a:r>
              <a:rPr lang="en-US" sz="2700">
                <a:solidFill>
                  <a:srgbClr val="000000"/>
                </a:solidFill>
                <a:latin typeface="Poppins"/>
                <a:ea typeface="Poppins"/>
                <a:cs typeface="Poppins"/>
                <a:sym typeface="Poppins"/>
              </a:rPr>
              <a:t>in</a:t>
            </a:r>
            <a:r>
              <a:rPr lang="en-US" sz="2700">
                <a:solidFill>
                  <a:srgbClr val="000000"/>
                </a:solidFill>
                <a:latin typeface="Poppins"/>
                <a:ea typeface="Poppins"/>
                <a:cs typeface="Poppins"/>
                <a:sym typeface="Poppins"/>
              </a:rPr>
              <a:t>g</a:t>
            </a:r>
            <a:r>
              <a:rPr lang="en-US" sz="2700">
                <a:solidFill>
                  <a:srgbClr val="000000"/>
                </a:solidFill>
                <a:latin typeface="Poppins"/>
                <a:ea typeface="Poppins"/>
                <a:cs typeface="Poppins"/>
                <a:sym typeface="Poppins"/>
              </a:rPr>
              <a:t> </a:t>
            </a:r>
            <a:r>
              <a:rPr lang="en-US" sz="2700">
                <a:solidFill>
                  <a:srgbClr val="000000"/>
                </a:solidFill>
                <a:latin typeface="Poppins"/>
                <a:ea typeface="Poppins"/>
                <a:cs typeface="Poppins"/>
                <a:sym typeface="Poppins"/>
              </a:rPr>
              <a:t>fou</a:t>
            </a:r>
            <a:r>
              <a:rPr lang="en-US" sz="2700">
                <a:solidFill>
                  <a:srgbClr val="000000"/>
                </a:solidFill>
                <a:latin typeface="Poppins"/>
                <a:ea typeface="Poppins"/>
                <a:cs typeface="Poppins"/>
                <a:sym typeface="Poppins"/>
              </a:rPr>
              <a:t>r </a:t>
            </a:r>
            <a:r>
              <a:rPr lang="en-US" sz="2700">
                <a:solidFill>
                  <a:srgbClr val="000000"/>
                </a:solidFill>
                <a:latin typeface="Poppins"/>
                <a:ea typeface="Poppins"/>
                <a:cs typeface="Poppins"/>
                <a:sym typeface="Poppins"/>
              </a:rPr>
              <a:t>differe</a:t>
            </a:r>
            <a:r>
              <a:rPr lang="en-US" sz="2700">
                <a:solidFill>
                  <a:srgbClr val="000000"/>
                </a:solidFill>
                <a:latin typeface="Poppins"/>
                <a:ea typeface="Poppins"/>
                <a:cs typeface="Poppins"/>
                <a:sym typeface="Poppins"/>
              </a:rPr>
              <a:t>n</a:t>
            </a:r>
            <a:r>
              <a:rPr lang="en-US" sz="2700">
                <a:solidFill>
                  <a:srgbClr val="000000"/>
                </a:solidFill>
                <a:latin typeface="Poppins"/>
                <a:ea typeface="Poppins"/>
                <a:cs typeface="Poppins"/>
                <a:sym typeface="Poppins"/>
              </a:rPr>
              <a:t>t chocolate samples: </a:t>
            </a:r>
            <a:r>
              <a:rPr lang="en-US" b="true" sz="2700">
                <a:solidFill>
                  <a:srgbClr val="000000"/>
                </a:solidFill>
                <a:latin typeface="Poppins Bold"/>
                <a:ea typeface="Poppins Bold"/>
                <a:cs typeface="Poppins Bold"/>
                <a:sym typeface="Poppins Bold"/>
              </a:rPr>
              <a:t>Cadbury</a:t>
            </a:r>
            <a:r>
              <a:rPr lang="en-US" sz="2700">
                <a:solidFill>
                  <a:srgbClr val="000000"/>
                </a:solidFill>
                <a:latin typeface="Poppins"/>
                <a:ea typeface="Poppins"/>
                <a:cs typeface="Poppins"/>
                <a:sym typeface="Poppins"/>
              </a:rPr>
              <a:t>, </a:t>
            </a:r>
            <a:r>
              <a:rPr lang="en-US" b="true" sz="2700">
                <a:solidFill>
                  <a:srgbClr val="000000"/>
                </a:solidFill>
                <a:latin typeface="Poppins Bold"/>
                <a:ea typeface="Poppins Bold"/>
                <a:cs typeface="Poppins Bold"/>
                <a:sym typeface="Poppins Bold"/>
              </a:rPr>
              <a:t>Delfi Red, Delfi Blue, and Silverqueen. </a:t>
            </a:r>
            <a:r>
              <a:rPr lang="en-US" sz="2700">
                <a:solidFill>
                  <a:srgbClr val="000000"/>
                </a:solidFill>
                <a:latin typeface="Poppins"/>
                <a:ea typeface="Poppins"/>
                <a:cs typeface="Poppins"/>
                <a:sym typeface="Poppins"/>
              </a:rPr>
              <a:t>The resulting sensor response graphs revealed unique "fingerprints" for each sample. </a:t>
            </a:r>
            <a:r>
              <a:rPr lang="en-US" b="true" sz="2700">
                <a:solidFill>
                  <a:srgbClr val="000000"/>
                </a:solidFill>
                <a:latin typeface="Poppins Bold"/>
                <a:ea typeface="Poppins Bold"/>
                <a:cs typeface="Poppins Bold"/>
                <a:sym typeface="Poppins Bold"/>
              </a:rPr>
              <a:t>Cadbury showed a stable pattern with moderate fluctuations, indicating a homogeneous composition.</a:t>
            </a:r>
            <a:r>
              <a:rPr lang="en-US" sz="2700">
                <a:solidFill>
                  <a:srgbClr val="000000"/>
                </a:solidFill>
                <a:latin typeface="Poppins"/>
                <a:ea typeface="Poppins"/>
                <a:cs typeface="Poppins"/>
                <a:sym typeface="Poppins"/>
              </a:rPr>
              <a:t> </a:t>
            </a:r>
            <a:r>
              <a:rPr lang="en-US" b="true" sz="2700">
                <a:solidFill>
                  <a:srgbClr val="000000"/>
                </a:solidFill>
                <a:latin typeface="Poppins Bold"/>
                <a:ea typeface="Poppins Bold"/>
                <a:cs typeface="Poppins Bold"/>
                <a:sym typeface="Poppins Bold"/>
              </a:rPr>
              <a:t>Delfi Blue exhibited pronounced peaks in certain channels, suggesting dominant aroma components</a:t>
            </a:r>
            <a:r>
              <a:rPr lang="en-US" sz="2700">
                <a:solidFill>
                  <a:srgbClr val="000000"/>
                </a:solidFill>
                <a:latin typeface="Poppins"/>
                <a:ea typeface="Poppins"/>
                <a:cs typeface="Poppins"/>
                <a:sym typeface="Poppins"/>
              </a:rPr>
              <a:t>, whereas </a:t>
            </a:r>
            <a:r>
              <a:rPr lang="en-US" b="true" sz="2700">
                <a:solidFill>
                  <a:srgbClr val="000000"/>
                </a:solidFill>
                <a:latin typeface="Poppins Bold"/>
                <a:ea typeface="Poppins Bold"/>
                <a:cs typeface="Poppins Bold"/>
                <a:sym typeface="Poppins Bold"/>
              </a:rPr>
              <a:t>Delfi Red appeared noisier</a:t>
            </a:r>
            <a:r>
              <a:rPr lang="en-US" sz="2700">
                <a:solidFill>
                  <a:srgbClr val="000000"/>
                </a:solidFill>
                <a:latin typeface="Poppins"/>
                <a:ea typeface="Poppins"/>
                <a:cs typeface="Poppins"/>
                <a:sym typeface="Poppins"/>
              </a:rPr>
              <a:t>. </a:t>
            </a:r>
            <a:r>
              <a:rPr lang="en-US" b="true" sz="2700">
                <a:solidFill>
                  <a:srgbClr val="000000"/>
                </a:solidFill>
                <a:latin typeface="Poppins Bold"/>
                <a:ea typeface="Poppins Bold"/>
                <a:cs typeface="Poppins Bold"/>
                <a:sym typeface="Poppins Bold"/>
              </a:rPr>
              <a:t>Silverqueen displayed the smallest amplitude and a flat curve</a:t>
            </a:r>
            <a:r>
              <a:rPr lang="en-US" sz="2700">
                <a:solidFill>
                  <a:srgbClr val="000000"/>
                </a:solidFill>
                <a:latin typeface="Poppins"/>
                <a:ea typeface="Poppins"/>
                <a:cs typeface="Poppins"/>
                <a:sym typeface="Poppins"/>
              </a:rPr>
              <a:t>, in</a:t>
            </a:r>
            <a:r>
              <a:rPr lang="en-US" sz="2700">
                <a:solidFill>
                  <a:srgbClr val="000000"/>
                </a:solidFill>
                <a:latin typeface="Poppins"/>
                <a:ea typeface="Poppins"/>
                <a:cs typeface="Poppins"/>
                <a:sym typeface="Poppins"/>
              </a:rPr>
              <a:t>d</a:t>
            </a:r>
            <a:r>
              <a:rPr lang="en-US" sz="2700">
                <a:solidFill>
                  <a:srgbClr val="000000"/>
                </a:solidFill>
                <a:latin typeface="Poppins"/>
                <a:ea typeface="Poppins"/>
                <a:cs typeface="Poppins"/>
                <a:sym typeface="Poppins"/>
              </a:rPr>
              <a:t>ic</a:t>
            </a:r>
            <a:r>
              <a:rPr lang="en-US" sz="2700">
                <a:solidFill>
                  <a:srgbClr val="000000"/>
                </a:solidFill>
                <a:latin typeface="Poppins"/>
                <a:ea typeface="Poppins"/>
                <a:cs typeface="Poppins"/>
                <a:sym typeface="Poppins"/>
              </a:rPr>
              <a:t>a</a:t>
            </a:r>
            <a:r>
              <a:rPr lang="en-US" sz="2700">
                <a:solidFill>
                  <a:srgbClr val="000000"/>
                </a:solidFill>
                <a:latin typeface="Poppins"/>
                <a:ea typeface="Poppins"/>
                <a:cs typeface="Poppins"/>
                <a:sym typeface="Poppins"/>
              </a:rPr>
              <a:t>ti</a:t>
            </a:r>
            <a:r>
              <a:rPr lang="en-US" sz="2700">
                <a:solidFill>
                  <a:srgbClr val="000000"/>
                </a:solidFill>
                <a:latin typeface="Poppins"/>
                <a:ea typeface="Poppins"/>
                <a:cs typeface="Poppins"/>
                <a:sym typeface="Poppins"/>
              </a:rPr>
              <a:t>ng</a:t>
            </a:r>
            <a:r>
              <a:rPr lang="en-US" sz="2700">
                <a:solidFill>
                  <a:srgbClr val="000000"/>
                </a:solidFill>
                <a:latin typeface="Poppins"/>
                <a:ea typeface="Poppins"/>
                <a:cs typeface="Poppins"/>
                <a:sym typeface="Poppins"/>
              </a:rPr>
              <a:t> </a:t>
            </a:r>
            <a:r>
              <a:rPr lang="en-US" sz="2700">
                <a:solidFill>
                  <a:srgbClr val="000000"/>
                </a:solidFill>
                <a:latin typeface="Poppins"/>
                <a:ea typeface="Poppins"/>
                <a:cs typeface="Poppins"/>
                <a:sym typeface="Poppins"/>
              </a:rPr>
              <a:t>a</a:t>
            </a:r>
            <a:r>
              <a:rPr lang="en-US" sz="2700">
                <a:solidFill>
                  <a:srgbClr val="000000"/>
                </a:solidFill>
                <a:latin typeface="Poppins"/>
                <a:ea typeface="Poppins"/>
                <a:cs typeface="Poppins"/>
                <a:sym typeface="Poppins"/>
              </a:rPr>
              <a:t> lighter</a:t>
            </a:r>
            <a:r>
              <a:rPr lang="en-US" sz="2700">
                <a:solidFill>
                  <a:srgbClr val="000000"/>
                </a:solidFill>
                <a:latin typeface="Poppins"/>
                <a:ea typeface="Poppins"/>
                <a:cs typeface="Poppins"/>
                <a:sym typeface="Poppins"/>
              </a:rPr>
              <a:t> </a:t>
            </a:r>
            <a:r>
              <a:rPr lang="en-US" sz="2700">
                <a:solidFill>
                  <a:srgbClr val="000000"/>
                </a:solidFill>
                <a:latin typeface="Poppins"/>
                <a:ea typeface="Poppins"/>
                <a:cs typeface="Poppins"/>
                <a:sym typeface="Poppins"/>
              </a:rPr>
              <a:t>aro</a:t>
            </a:r>
            <a:r>
              <a:rPr lang="en-US" sz="2700">
                <a:solidFill>
                  <a:srgbClr val="000000"/>
                </a:solidFill>
                <a:latin typeface="Poppins"/>
                <a:ea typeface="Poppins"/>
                <a:cs typeface="Poppins"/>
                <a:sym typeface="Poppins"/>
              </a:rPr>
              <a:t>m</a:t>
            </a:r>
            <a:r>
              <a:rPr lang="en-US" sz="2700">
                <a:solidFill>
                  <a:srgbClr val="000000"/>
                </a:solidFill>
                <a:latin typeface="Poppins"/>
                <a:ea typeface="Poppins"/>
                <a:cs typeface="Poppins"/>
                <a:sym typeface="Poppins"/>
              </a:rPr>
              <a:t>a</a:t>
            </a:r>
            <a:r>
              <a:rPr lang="en-US" sz="2700">
                <a:solidFill>
                  <a:srgbClr val="000000"/>
                </a:solidFill>
                <a:latin typeface="Poppins"/>
                <a:ea typeface="Poppins"/>
                <a:cs typeface="Poppins"/>
                <a:sym typeface="Poppins"/>
              </a:rPr>
              <a:t> </a:t>
            </a:r>
            <a:r>
              <a:rPr lang="en-US" sz="2700">
                <a:solidFill>
                  <a:srgbClr val="000000"/>
                </a:solidFill>
                <a:latin typeface="Poppins"/>
                <a:ea typeface="Poppins"/>
                <a:cs typeface="Poppins"/>
                <a:sym typeface="Poppins"/>
              </a:rPr>
              <a:t>inte</a:t>
            </a:r>
            <a:r>
              <a:rPr lang="en-US" sz="2700">
                <a:solidFill>
                  <a:srgbClr val="000000"/>
                </a:solidFill>
                <a:latin typeface="Poppins"/>
                <a:ea typeface="Poppins"/>
                <a:cs typeface="Poppins"/>
                <a:sym typeface="Poppins"/>
              </a:rPr>
              <a:t>n</a:t>
            </a:r>
            <a:r>
              <a:rPr lang="en-US" sz="2700">
                <a:solidFill>
                  <a:srgbClr val="000000"/>
                </a:solidFill>
                <a:latin typeface="Poppins"/>
                <a:ea typeface="Poppins"/>
                <a:cs typeface="Poppins"/>
                <a:sym typeface="Poppins"/>
              </a:rPr>
              <a:t>sit</a:t>
            </a:r>
            <a:r>
              <a:rPr lang="en-US" sz="2700">
                <a:solidFill>
                  <a:srgbClr val="000000"/>
                </a:solidFill>
                <a:latin typeface="Poppins"/>
                <a:ea typeface="Poppins"/>
                <a:cs typeface="Poppins"/>
                <a:sym typeface="Poppins"/>
              </a:rPr>
              <a:t>y</a:t>
            </a:r>
            <a:r>
              <a:rPr lang="en-US" sz="2700">
                <a:solidFill>
                  <a:srgbClr val="000000"/>
                </a:solidFill>
                <a:latin typeface="Poppins"/>
                <a:ea typeface="Poppins"/>
                <a:cs typeface="Poppins"/>
                <a:sym typeface="Poppins"/>
              </a:rPr>
              <a:t>.</a:t>
            </a:r>
            <a:r>
              <a:rPr lang="en-US" sz="2700">
                <a:solidFill>
                  <a:srgbClr val="000000"/>
                </a:solidFill>
                <a:latin typeface="Poppins"/>
                <a:ea typeface="Poppins"/>
                <a:cs typeface="Poppins"/>
                <a:sym typeface="Poppins"/>
              </a:rPr>
              <a:t> </a:t>
            </a:r>
            <a:r>
              <a:rPr lang="en-US" sz="2700">
                <a:solidFill>
                  <a:srgbClr val="000000"/>
                </a:solidFill>
                <a:latin typeface="Poppins"/>
                <a:ea typeface="Poppins"/>
                <a:cs typeface="Poppins"/>
                <a:sym typeface="Poppins"/>
              </a:rPr>
              <a:t>The</a:t>
            </a:r>
            <a:r>
              <a:rPr lang="en-US" sz="2700">
                <a:solidFill>
                  <a:srgbClr val="000000"/>
                </a:solidFill>
                <a:latin typeface="Poppins"/>
                <a:ea typeface="Poppins"/>
                <a:cs typeface="Poppins"/>
                <a:sym typeface="Poppins"/>
              </a:rPr>
              <a:t>s</a:t>
            </a:r>
            <a:r>
              <a:rPr lang="en-US" sz="2700">
                <a:solidFill>
                  <a:srgbClr val="000000"/>
                </a:solidFill>
                <a:latin typeface="Poppins"/>
                <a:ea typeface="Poppins"/>
                <a:cs typeface="Poppins"/>
                <a:sym typeface="Poppins"/>
              </a:rPr>
              <a:t>e</a:t>
            </a:r>
            <a:r>
              <a:rPr lang="en-US" sz="2700">
                <a:solidFill>
                  <a:srgbClr val="000000"/>
                </a:solidFill>
                <a:latin typeface="Poppins"/>
                <a:ea typeface="Poppins"/>
                <a:cs typeface="Poppins"/>
                <a:sym typeface="Poppins"/>
              </a:rPr>
              <a:t> </a:t>
            </a:r>
            <a:r>
              <a:rPr lang="en-US" sz="2700">
                <a:solidFill>
                  <a:srgbClr val="000000"/>
                </a:solidFill>
                <a:latin typeface="Poppins"/>
                <a:ea typeface="Poppins"/>
                <a:cs typeface="Poppins"/>
                <a:sym typeface="Poppins"/>
              </a:rPr>
              <a:t>r</a:t>
            </a:r>
            <a:r>
              <a:rPr lang="en-US" sz="2700">
                <a:solidFill>
                  <a:srgbClr val="000000"/>
                </a:solidFill>
                <a:latin typeface="Poppins"/>
                <a:ea typeface="Poppins"/>
                <a:cs typeface="Poppins"/>
                <a:sym typeface="Poppins"/>
              </a:rPr>
              <a:t>e</a:t>
            </a:r>
            <a:r>
              <a:rPr lang="en-US" sz="2700">
                <a:solidFill>
                  <a:srgbClr val="000000"/>
                </a:solidFill>
                <a:latin typeface="Poppins"/>
                <a:ea typeface="Poppins"/>
                <a:cs typeface="Poppins"/>
                <a:sym typeface="Poppins"/>
              </a:rPr>
              <a:t>su</a:t>
            </a:r>
            <a:r>
              <a:rPr lang="en-US" sz="2700">
                <a:solidFill>
                  <a:srgbClr val="000000"/>
                </a:solidFill>
                <a:latin typeface="Poppins"/>
                <a:ea typeface="Poppins"/>
                <a:cs typeface="Poppins"/>
                <a:sym typeface="Poppins"/>
              </a:rPr>
              <a:t>l</a:t>
            </a:r>
            <a:r>
              <a:rPr lang="en-US" sz="2700">
                <a:solidFill>
                  <a:srgbClr val="000000"/>
                </a:solidFill>
                <a:latin typeface="Poppins"/>
                <a:ea typeface="Poppins"/>
                <a:cs typeface="Poppins"/>
                <a:sym typeface="Poppins"/>
              </a:rPr>
              <a:t>t</a:t>
            </a:r>
            <a:r>
              <a:rPr lang="en-US" sz="2700">
                <a:solidFill>
                  <a:srgbClr val="000000"/>
                </a:solidFill>
                <a:latin typeface="Poppins"/>
                <a:ea typeface="Poppins"/>
                <a:cs typeface="Poppins"/>
                <a:sym typeface="Poppins"/>
              </a:rPr>
              <a:t>s d</a:t>
            </a:r>
            <a:r>
              <a:rPr lang="en-US" sz="2700">
                <a:solidFill>
                  <a:srgbClr val="000000"/>
                </a:solidFill>
                <a:latin typeface="Poppins"/>
                <a:ea typeface="Poppins"/>
                <a:cs typeface="Poppins"/>
                <a:sym typeface="Poppins"/>
              </a:rPr>
              <a:t>emonst</a:t>
            </a:r>
            <a:r>
              <a:rPr lang="en-US" sz="2700">
                <a:solidFill>
                  <a:srgbClr val="000000"/>
                </a:solidFill>
                <a:latin typeface="Poppins"/>
                <a:ea typeface="Poppins"/>
                <a:cs typeface="Poppins"/>
                <a:sym typeface="Poppins"/>
              </a:rPr>
              <a:t>ra</a:t>
            </a:r>
            <a:r>
              <a:rPr lang="en-US" sz="2700">
                <a:solidFill>
                  <a:srgbClr val="000000"/>
                </a:solidFill>
                <a:latin typeface="Poppins"/>
                <a:ea typeface="Poppins"/>
                <a:cs typeface="Poppins"/>
                <a:sym typeface="Poppins"/>
              </a:rPr>
              <a:t>te</a:t>
            </a:r>
            <a:r>
              <a:rPr lang="en-US" sz="2700">
                <a:solidFill>
                  <a:srgbClr val="000000"/>
                </a:solidFill>
                <a:latin typeface="Poppins"/>
                <a:ea typeface="Poppins"/>
                <a:cs typeface="Poppins"/>
                <a:sym typeface="Poppins"/>
              </a:rPr>
              <a:t> </a:t>
            </a:r>
            <a:r>
              <a:rPr lang="en-US" sz="2700">
                <a:solidFill>
                  <a:srgbClr val="000000"/>
                </a:solidFill>
                <a:latin typeface="Poppins"/>
                <a:ea typeface="Poppins"/>
                <a:cs typeface="Poppins"/>
                <a:sym typeface="Poppins"/>
              </a:rPr>
              <a:t>th</a:t>
            </a:r>
            <a:r>
              <a:rPr lang="en-US" sz="2700">
                <a:solidFill>
                  <a:srgbClr val="000000"/>
                </a:solidFill>
                <a:latin typeface="Poppins"/>
                <a:ea typeface="Poppins"/>
                <a:cs typeface="Poppins"/>
                <a:sym typeface="Poppins"/>
              </a:rPr>
              <a:t>a</a:t>
            </a:r>
            <a:r>
              <a:rPr lang="en-US" sz="2700">
                <a:solidFill>
                  <a:srgbClr val="000000"/>
                </a:solidFill>
                <a:latin typeface="Poppins"/>
                <a:ea typeface="Poppins"/>
                <a:cs typeface="Poppins"/>
                <a:sym typeface="Poppins"/>
              </a:rPr>
              <a:t>t the system can successfully differentiate between chocolate varieties based on their volatile compound profiles.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8500" y="3124200"/>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741400" y="3124200"/>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933297" y="3191597"/>
            <a:ext cx="8421405" cy="1265381"/>
          </a:xfrm>
          <a:prstGeom prst="rect">
            <a:avLst/>
          </a:prstGeom>
        </p:spPr>
        <p:txBody>
          <a:bodyPr anchor="t" rtlCol="false" tIns="0" lIns="0" bIns="0" rIns="0">
            <a:spAutoFit/>
          </a:bodyPr>
          <a:lstStyle/>
          <a:p>
            <a:pPr algn="ctr">
              <a:lnSpc>
                <a:spcPts val="10334"/>
              </a:lnSpc>
            </a:pPr>
            <a:r>
              <a:rPr lang="en-US" b="true" sz="7382">
                <a:solidFill>
                  <a:srgbClr val="004AAD"/>
                </a:solidFill>
                <a:latin typeface="League Spartan"/>
                <a:ea typeface="League Spartan"/>
                <a:cs typeface="League Spartan"/>
                <a:sym typeface="League Spartan"/>
              </a:rPr>
              <a:t>THANK YOU</a:t>
            </a:r>
          </a:p>
        </p:txBody>
      </p:sp>
      <p:grpSp>
        <p:nvGrpSpPr>
          <p:cNvPr name="Group 10" id="10"/>
          <p:cNvGrpSpPr/>
          <p:nvPr/>
        </p:nvGrpSpPr>
        <p:grpSpPr>
          <a:xfrm rot="0">
            <a:off x="7616825" y="6705600"/>
            <a:ext cx="3054350" cy="761278"/>
            <a:chOff x="0" y="0"/>
            <a:chExt cx="804438" cy="200501"/>
          </a:xfrm>
        </p:grpSpPr>
        <p:sp>
          <p:nvSpPr>
            <p:cNvPr name="Freeform 11" id="11"/>
            <p:cNvSpPr/>
            <p:nvPr/>
          </p:nvSpPr>
          <p:spPr>
            <a:xfrm flipH="false" flipV="false" rot="0">
              <a:off x="0" y="0"/>
              <a:ext cx="804438" cy="200501"/>
            </a:xfrm>
            <a:custGeom>
              <a:avLst/>
              <a:gdLst/>
              <a:ahLst/>
              <a:cxnLst/>
              <a:rect r="r" b="b" t="t" l="l"/>
              <a:pathLst>
                <a:path h="200501" w="804438">
                  <a:moveTo>
                    <a:pt x="100251" y="0"/>
                  </a:moveTo>
                  <a:lnTo>
                    <a:pt x="704187" y="0"/>
                  </a:lnTo>
                  <a:cubicBezTo>
                    <a:pt x="730775" y="0"/>
                    <a:pt x="756275" y="10562"/>
                    <a:pt x="775075" y="29363"/>
                  </a:cubicBezTo>
                  <a:cubicBezTo>
                    <a:pt x="793876" y="48163"/>
                    <a:pt x="804438" y="73662"/>
                    <a:pt x="804438" y="100251"/>
                  </a:cubicBezTo>
                  <a:lnTo>
                    <a:pt x="804438" y="100251"/>
                  </a:lnTo>
                  <a:cubicBezTo>
                    <a:pt x="804438" y="155617"/>
                    <a:pt x="759554" y="200501"/>
                    <a:pt x="704187" y="200501"/>
                  </a:cubicBezTo>
                  <a:lnTo>
                    <a:pt x="100251" y="200501"/>
                  </a:lnTo>
                  <a:cubicBezTo>
                    <a:pt x="44884" y="200501"/>
                    <a:pt x="0" y="155617"/>
                    <a:pt x="0" y="100251"/>
                  </a:cubicBezTo>
                  <a:lnTo>
                    <a:pt x="0" y="100251"/>
                  </a:lnTo>
                  <a:cubicBezTo>
                    <a:pt x="0" y="44884"/>
                    <a:pt x="44884" y="0"/>
                    <a:pt x="100251" y="0"/>
                  </a:cubicBezTo>
                  <a:close/>
                </a:path>
              </a:pathLst>
            </a:custGeom>
            <a:solidFill>
              <a:srgbClr val="004AAD"/>
            </a:solidFill>
          </p:spPr>
        </p:sp>
        <p:sp>
          <p:nvSpPr>
            <p:cNvPr name="TextBox 12" id="12"/>
            <p:cNvSpPr txBox="true"/>
            <p:nvPr/>
          </p:nvSpPr>
          <p:spPr>
            <a:xfrm>
              <a:off x="0" y="-47625"/>
              <a:ext cx="804438" cy="248126"/>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7347826" y="6846823"/>
            <a:ext cx="3592349" cy="535981"/>
          </a:xfrm>
          <a:prstGeom prst="rect">
            <a:avLst/>
          </a:prstGeom>
        </p:spPr>
        <p:txBody>
          <a:bodyPr anchor="t" rtlCol="false" tIns="0" lIns="0" bIns="0" rIns="0">
            <a:spAutoFit/>
          </a:bodyPr>
          <a:lstStyle/>
          <a:p>
            <a:pPr algn="ctr">
              <a:lnSpc>
                <a:spcPts val="4408"/>
              </a:lnSpc>
            </a:pPr>
            <a:r>
              <a:rPr lang="en-US" sz="3148">
                <a:solidFill>
                  <a:srgbClr val="FFFFFF"/>
                </a:solidFill>
                <a:latin typeface="League Spartan"/>
                <a:ea typeface="League Spartan"/>
                <a:cs typeface="League Spartan"/>
                <a:sym typeface="League Spartan"/>
              </a:rPr>
              <a:t>KELOMPOK 4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DAG7Q6rpIFs</dc:identifier>
  <dcterms:modified xsi:type="dcterms:W3CDTF">2011-08-01T06:04:30Z</dcterms:modified>
  <cp:revision>1</cp:revision>
  <dc:title>Kelompok 4_Sampel Coklat</dc:title>
</cp:coreProperties>
</file>